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Montserrat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5939f724_2_453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176" name="Google Shape;176;g3ab5939f724_2_453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5939f724_6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b5939f724_6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ca7199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aca7199b3d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ca7199b3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aca7199b3d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ca7199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ca7199b3d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b5939f724_6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b5939f724_6_5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ca7199b3d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aca7199b3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ca7199b3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aca7199b3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b77ae81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ab77ae819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b77ae819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ab77ae819f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b77ae819f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ab77ae819f_1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b5939f724_6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ab5939f724_6_7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b77ae819f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ab77ae819f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ab77ae819f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ab77ae819f_1_2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b77ae819f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ab77ae819f_1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b5939f724_6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ab5939f724_6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b5939f724_2_665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586" name="Google Shape;586;g3ab5939f724_2_665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6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494" y="-478555"/>
            <a:ext cx="12206588" cy="733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367" l="1962" r="2316" t="38418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3"/>
          <p:cNvGrpSpPr/>
          <p:nvPr/>
        </p:nvGrpSpPr>
        <p:grpSpPr>
          <a:xfrm>
            <a:off x="5078985" y="6386286"/>
            <a:ext cx="2361915" cy="203699"/>
            <a:chOff x="8592670" y="10723202"/>
            <a:chExt cx="3894979" cy="335915"/>
          </a:xfrm>
        </p:grpSpPr>
        <p:sp>
          <p:nvSpPr>
            <p:cNvPr id="84" name="Google Shape;84;p13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>
            <a:off x="3088475" y="5017367"/>
            <a:ext cx="6497011" cy="32404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088475" y="4383271"/>
            <a:ext cx="6497011" cy="633262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3116150" y="4431030"/>
            <a:ext cx="64581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33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2" type="body"/>
          </p:nvPr>
        </p:nvSpPr>
        <p:spPr>
          <a:xfrm>
            <a:off x="2861231" y="3730716"/>
            <a:ext cx="69315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3" type="body"/>
          </p:nvPr>
        </p:nvSpPr>
        <p:spPr>
          <a:xfrm>
            <a:off x="3088475" y="5144438"/>
            <a:ext cx="6486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0077" y="5408177"/>
            <a:ext cx="3580771" cy="88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0" name="Google Shape;130;p1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1" name="Google Shape;13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p2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p2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2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0" name="Google Shape;140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1" name="Google Shape;151;p2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1" name="Google Shape;101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54.png"/><Relationship Id="rId10" Type="http://schemas.openxmlformats.org/officeDocument/2006/relationships/image" Target="../media/image42.png"/><Relationship Id="rId13" Type="http://schemas.openxmlformats.org/officeDocument/2006/relationships/image" Target="../media/image36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48.png"/><Relationship Id="rId17" Type="http://schemas.openxmlformats.org/officeDocument/2006/relationships/image" Target="../media/image39.png"/><Relationship Id="rId16" Type="http://schemas.openxmlformats.org/officeDocument/2006/relationships/image" Target="../media/image31.png"/><Relationship Id="rId5" Type="http://schemas.openxmlformats.org/officeDocument/2006/relationships/image" Target="../media/image32.png"/><Relationship Id="rId19" Type="http://schemas.openxmlformats.org/officeDocument/2006/relationships/image" Target="../media/image29.png"/><Relationship Id="rId6" Type="http://schemas.openxmlformats.org/officeDocument/2006/relationships/image" Target="../media/image38.png"/><Relationship Id="rId18" Type="http://schemas.openxmlformats.org/officeDocument/2006/relationships/image" Target="../media/image44.png"/><Relationship Id="rId7" Type="http://schemas.openxmlformats.org/officeDocument/2006/relationships/image" Target="../media/image28.png"/><Relationship Id="rId8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9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57.png"/><Relationship Id="rId8" Type="http://schemas.openxmlformats.org/officeDocument/2006/relationships/image" Target="../media/image6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60.png"/><Relationship Id="rId7" Type="http://schemas.openxmlformats.org/officeDocument/2006/relationships/image" Target="../media/image51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60.png"/><Relationship Id="rId6" Type="http://schemas.openxmlformats.org/officeDocument/2006/relationships/image" Target="../media/image51.png"/><Relationship Id="rId7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hyperlink" Target="http://drive.google.com/file/d/1Y2eJQ-FAEnkrfgTcB5nm71RvmNAln0Ha/view" TargetMode="External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59.png"/><Relationship Id="rId9" Type="http://schemas.openxmlformats.org/officeDocument/2006/relationships/image" Target="../media/image19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50.png"/><Relationship Id="rId8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59.png"/><Relationship Id="rId5" Type="http://schemas.openxmlformats.org/officeDocument/2006/relationships/image" Target="../media/image19.png"/><Relationship Id="rId6" Type="http://schemas.openxmlformats.org/officeDocument/2006/relationships/image" Target="../media/image58.png"/><Relationship Id="rId7" Type="http://schemas.openxmlformats.org/officeDocument/2006/relationships/image" Target="../media/image63.png"/><Relationship Id="rId8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6.png"/><Relationship Id="rId6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8.png"/><Relationship Id="rId9" Type="http://schemas.openxmlformats.org/officeDocument/2006/relationships/image" Target="../media/image86.jpg"/><Relationship Id="rId5" Type="http://schemas.openxmlformats.org/officeDocument/2006/relationships/image" Target="../media/image78.png"/><Relationship Id="rId6" Type="http://schemas.openxmlformats.org/officeDocument/2006/relationships/image" Target="../media/image67.png"/><Relationship Id="rId7" Type="http://schemas.openxmlformats.org/officeDocument/2006/relationships/image" Target="../media/image77.png"/><Relationship Id="rId8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0.png"/><Relationship Id="rId6" Type="http://schemas.openxmlformats.org/officeDocument/2006/relationships/image" Target="../media/image75.png"/><Relationship Id="rId7" Type="http://schemas.openxmlformats.org/officeDocument/2006/relationships/image" Target="../media/image7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84.png"/><Relationship Id="rId6" Type="http://schemas.openxmlformats.org/officeDocument/2006/relationships/image" Target="../media/image73.png"/><Relationship Id="rId7" Type="http://schemas.openxmlformats.org/officeDocument/2006/relationships/image" Target="../media/image63.png"/><Relationship Id="rId8" Type="http://schemas.openxmlformats.org/officeDocument/2006/relationships/image" Target="../media/image7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55.png"/><Relationship Id="rId6" Type="http://schemas.openxmlformats.org/officeDocument/2006/relationships/image" Target="../media/image81.jpg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76.png"/><Relationship Id="rId9" Type="http://schemas.openxmlformats.org/officeDocument/2006/relationships/image" Target="../media/image82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Relationship Id="rId7" Type="http://schemas.openxmlformats.org/officeDocument/2006/relationships/image" Target="../media/image80.png"/><Relationship Id="rId8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7.png"/><Relationship Id="rId4" Type="http://schemas.openxmlformats.org/officeDocument/2006/relationships/image" Target="../media/image83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5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/>
        </p:nvSpPr>
        <p:spPr>
          <a:xfrm>
            <a:off x="3130800" y="4421100"/>
            <a:ext cx="64221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PEPSI-FLEET</a:t>
            </a:r>
            <a:endParaRPr b="1"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0" y="6298049"/>
            <a:ext cx="43929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Docente</a:t>
            </a:r>
            <a:endParaRPr b="0" i="0" sz="13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FABIAN ALEJANDRO ALVAREZ MONTENEGRO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202557" y="5821964"/>
            <a:ext cx="39156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50" lIns="55450" spcFirstLastPara="1" rIns="55450" wrap="square" tIns="55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Fecha: 02-12-2025	</a:t>
            </a:r>
            <a:endParaRPr b="0" i="0" sz="15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Escuela de Informática y Telecomunicaciones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3">
            <a:alphaModFix/>
          </a:blip>
          <a:srcRect b="36877" l="0" r="0" t="37730"/>
          <a:stretch/>
        </p:blipFill>
        <p:spPr>
          <a:xfrm>
            <a:off x="300371" y="-265695"/>
            <a:ext cx="2830423" cy="797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2580475" y="3552575"/>
            <a:ext cx="7896000" cy="121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8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Digitalización Integral de Gestión Taller Mecánico ATP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/>
          <p:nvPr/>
        </p:nvSpPr>
        <p:spPr>
          <a:xfrm flipH="1">
            <a:off x="2519575" y="3614375"/>
            <a:ext cx="60900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/>
          <p:nvPr/>
        </p:nvSpPr>
        <p:spPr>
          <a:xfrm flipH="1">
            <a:off x="2974775" y="4421100"/>
            <a:ext cx="60900" cy="60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3050" y="2306637"/>
            <a:ext cx="36576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 txBox="1"/>
          <p:nvPr/>
        </p:nvSpPr>
        <p:spPr>
          <a:xfrm>
            <a:off x="4808325" y="2459025"/>
            <a:ext cx="3324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Felipe Carrasco  •  Carlos Bustamante</a:t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7100" y="-256675"/>
            <a:ext cx="2801050" cy="7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14650"/>
            <a:ext cx="33654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914650"/>
            <a:ext cx="33654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914650"/>
            <a:ext cx="3365599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0601325" y="6296025"/>
            <a:ext cx="1209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Problemática: "El Apagón de Datos"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762000" y="1714500"/>
            <a:ext cx="8572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La gestión manual y herramientas desconectadas generaban tres puntos ciegos críticos en la operación diaria del taller:</a:t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762000" y="1123950"/>
            <a:ext cx="1619250" cy="1905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927894" y="3962400"/>
            <a:ext cx="30336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Duplicidad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1000125" y="4410075"/>
            <a:ext cx="2889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Datos inconsistentes entre portería y taller. Pérdida de horas en conciliación manual.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4579095" y="3962400"/>
            <a:ext cx="303366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Nula Trazabilidad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4651325" y="4410075"/>
            <a:ext cx="2889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Imposibilidad de conocer el estado real de la flota en tiempo real dentro de la planta.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8230292" y="3962400"/>
            <a:ext cx="30338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Ineficiencia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8302525" y="4410075"/>
            <a:ext cx="28893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Excesiva coordinación telefónica y tiempos muertos para autorizaciones rutinarias.</a:t>
            </a:r>
            <a:endParaRPr/>
          </a:p>
        </p:txBody>
      </p:sp>
      <p:pic>
        <p:nvPicPr>
          <p:cNvPr descr="image.png" id="206" name="Google Shape;20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4150" y="33242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3242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325" y="33242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01325" y="363096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10601325" y="6296025"/>
            <a:ext cx="1209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17" name="Google Shape;217;p28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Solución: Plataforma Web Integral</a:t>
            </a: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762000" y="1123950"/>
            <a:ext cx="2009775" cy="1905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8"/>
          <p:cNvSpPr txBox="1"/>
          <p:nvPr/>
        </p:nvSpPr>
        <p:spPr>
          <a:xfrm>
            <a:off x="762000" y="1809750"/>
            <a:ext cx="5095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Centralización Total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Un</a:t>
            </a: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página</a:t>
            </a: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que</a:t>
            </a: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conecta a Guardia, Mecánico y Supervisor en tiempo real.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762000" y="299085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Web Responsiva (PWA)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Acceso universal vía navegador web. No requiere instalar Apps ni actualizaciones manuales.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762000" y="4171950"/>
            <a:ext cx="509587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Evidencia Digital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Carga optimizada de fotografías y repuestos desde cualquier dispositivo móvil.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762000" y="5353050"/>
            <a:ext cx="5095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Inteligencia de Negocios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KPIs automáticos para decisiones gerenciales.</a:t>
            </a:r>
            <a:endParaRPr/>
          </a:p>
        </p:txBody>
      </p:sp>
      <p:pic>
        <p:nvPicPr>
          <p:cNvPr id="224" name="Google Shape;22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45000" y="571496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05050"/>
            <a:ext cx="484896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0882" y="2305050"/>
            <a:ext cx="4849117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Metodología de Gestión Híbrida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762000" y="1543050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Combinamos la estructura de la planificación tradicional con la agilidad del desarrollo iterativo.</a:t>
            </a:r>
            <a:endParaRPr/>
          </a:p>
        </p:txBody>
      </p:sp>
      <p:sp>
        <p:nvSpPr>
          <p:cNvPr id="235" name="Google Shape;235;p29"/>
          <p:cNvSpPr txBox="1"/>
          <p:nvPr/>
        </p:nvSpPr>
        <p:spPr>
          <a:xfrm>
            <a:off x="762000" y="5191125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Resultado:</a:t>
            </a:r>
            <a:r>
              <a:rPr b="0" i="0" lang="en-US" sz="1200" u="none" cap="none" strike="noStrike">
                <a:solidFill>
                  <a:srgbClr val="C9002B"/>
                </a:solidFill>
                <a:latin typeface="Open Sans"/>
                <a:ea typeface="Open Sans"/>
                <a:cs typeface="Open Sans"/>
                <a:sym typeface="Open Sans"/>
              </a:rPr>
              <a:t> Documentación robusta + Software entregado a tiempo.</a:t>
            </a:r>
            <a:endParaRPr/>
          </a:p>
        </p:txBody>
      </p:sp>
      <p:sp>
        <p:nvSpPr>
          <p:cNvPr id="236" name="Google Shape;236;p29"/>
          <p:cNvSpPr/>
          <p:nvPr/>
        </p:nvSpPr>
        <p:spPr>
          <a:xfrm>
            <a:off x="762000" y="1066800"/>
            <a:ext cx="36099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1060828" y="2705100"/>
            <a:ext cx="4251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718096"/>
                </a:solidFill>
                <a:latin typeface="Montserrat"/>
                <a:ea typeface="Montserrat"/>
                <a:cs typeface="Montserrat"/>
                <a:sym typeface="Montserrat"/>
              </a:rPr>
              <a:t>Fase 1: Cascada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1162050" y="3952875"/>
            <a:ext cx="404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Planificación Estructurada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ERS, Gantt y Diseño UI/UX</a:t>
            </a:r>
            <a:endParaRPr/>
          </a:p>
        </p:txBody>
      </p:sp>
      <p:pic>
        <p:nvPicPr>
          <p:cNvPr descr="image.png" id="239" name="Google Shape;23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351" y="3419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9"/>
          <p:cNvSpPr txBox="1"/>
          <p:nvPr/>
        </p:nvSpPr>
        <p:spPr>
          <a:xfrm>
            <a:off x="6879706" y="2705100"/>
            <a:ext cx="4251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Fase 2: Scrum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6980932" y="3952875"/>
            <a:ext cx="40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Ejecución en Sprints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Dailies y Retrospectivas</a:t>
            </a:r>
            <a:endParaRPr/>
          </a:p>
        </p:txBody>
      </p:sp>
      <p:pic>
        <p:nvPicPr>
          <p:cNvPr descr="image.png" id="242" name="Google Shape;24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5435" y="320040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7316" y="3200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32088" y="190487"/>
            <a:ext cx="154814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30"/>
          <p:cNvPicPr preferRelativeResize="0"/>
          <p:nvPr/>
        </p:nvPicPr>
        <p:blipFill rotWithShape="1">
          <a:blip r:embed="rId3">
            <a:alphaModFix/>
          </a:blip>
          <a:srcRect b="129" l="0" r="0" t="-130"/>
          <a:stretch/>
        </p:blipFill>
        <p:spPr>
          <a:xfrm>
            <a:off x="0" y="-45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762000" y="1123950"/>
            <a:ext cx="20097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5000" y="571496"/>
            <a:ext cx="112233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010" y="766625"/>
            <a:ext cx="8920164" cy="57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428575" y="867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Documentacion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31"/>
          <p:cNvPicPr preferRelativeResize="0"/>
          <p:nvPr/>
        </p:nvPicPr>
        <p:blipFill rotWithShape="1">
          <a:blip r:embed="rId3">
            <a:alphaModFix/>
          </a:blip>
          <a:srcRect b="129" l="0" r="0" t="-130"/>
          <a:stretch/>
        </p:blipFill>
        <p:spPr>
          <a:xfrm>
            <a:off x="0" y="-45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1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762000" y="1123950"/>
            <a:ext cx="20097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000" y="571496"/>
            <a:ext cx="112233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725" y="1143150"/>
            <a:ext cx="11256526" cy="46807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1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Carta Gantt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32"/>
          <p:cNvPicPr preferRelativeResize="0"/>
          <p:nvPr/>
        </p:nvPicPr>
        <p:blipFill rotWithShape="1">
          <a:blip r:embed="rId3">
            <a:alphaModFix/>
          </a:blip>
          <a:srcRect b="129" l="0" r="0" t="-130"/>
          <a:stretch/>
        </p:blipFill>
        <p:spPr>
          <a:xfrm>
            <a:off x="0" y="-45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0958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762000" y="1123950"/>
            <a:ext cx="20097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000" y="571496"/>
            <a:ext cx="112233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875" y="738188"/>
            <a:ext cx="5000625" cy="53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1200" y="2504475"/>
            <a:ext cx="6010275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14550"/>
            <a:ext cx="2488406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8531" y="2114550"/>
            <a:ext cx="2488406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114550"/>
            <a:ext cx="2488406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1593" y="2114550"/>
            <a:ext cx="2488406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724275"/>
            <a:ext cx="2488406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88531" y="3724275"/>
            <a:ext cx="2488406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15062" y="3724275"/>
            <a:ext cx="2488406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41593" y="3724275"/>
            <a:ext cx="2488406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291" name="Google Shape;291;p33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Tecnológico &amp; Herramientas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762000" y="1543050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Selección de tecnologías modernas para garantizar calidad y mantenibilidad.</a:t>
            </a:r>
            <a:endParaRPr/>
          </a:p>
        </p:txBody>
      </p:sp>
      <p:sp>
        <p:nvSpPr>
          <p:cNvPr id="293" name="Google Shape;293;p33"/>
          <p:cNvSpPr/>
          <p:nvPr/>
        </p:nvSpPr>
        <p:spPr>
          <a:xfrm>
            <a:off x="762000" y="1066800"/>
            <a:ext cx="3029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20465" y="2343150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/>
        </p:nvSpPr>
        <p:spPr>
          <a:xfrm>
            <a:off x="1749024" y="2819400"/>
            <a:ext cx="6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401414" y="3137063"/>
            <a:ext cx="120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Control de Versiones</a:t>
            </a:r>
            <a:endParaRPr/>
          </a:p>
        </p:txBody>
      </p:sp>
      <p:pic>
        <p:nvPicPr>
          <p:cNvPr descr="image.png" id="297" name="Google Shape;297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42234" y="23431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3"/>
          <p:cNvSpPr txBox="1"/>
          <p:nvPr/>
        </p:nvSpPr>
        <p:spPr>
          <a:xfrm>
            <a:off x="4299375" y="2821463"/>
            <a:ext cx="86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Lighthouse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4213638" y="3103600"/>
            <a:ext cx="120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Auditoría de Calidad</a:t>
            </a:r>
            <a:endParaRPr/>
          </a:p>
        </p:txBody>
      </p:sp>
      <p:pic>
        <p:nvPicPr>
          <p:cNvPr descr="image.png" id="300" name="Google Shape;300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292578" y="2343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3"/>
          <p:cNvSpPr txBox="1"/>
          <p:nvPr/>
        </p:nvSpPr>
        <p:spPr>
          <a:xfrm>
            <a:off x="7206849" y="2819400"/>
            <a:ext cx="6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Next.js</a:t>
            </a:r>
            <a:endParaRPr/>
          </a:p>
        </p:txBody>
      </p:sp>
      <p:sp>
        <p:nvSpPr>
          <p:cNvPr id="302" name="Google Shape;302;p33"/>
          <p:cNvSpPr txBox="1"/>
          <p:nvPr/>
        </p:nvSpPr>
        <p:spPr>
          <a:xfrm>
            <a:off x="7025875" y="3028950"/>
            <a:ext cx="970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Framework Web</a:t>
            </a:r>
            <a:endParaRPr/>
          </a:p>
        </p:txBody>
      </p:sp>
      <p:pic>
        <p:nvPicPr>
          <p:cNvPr descr="image.png" id="303" name="Google Shape;303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019147" y="2343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3"/>
          <p:cNvSpPr txBox="1"/>
          <p:nvPr/>
        </p:nvSpPr>
        <p:spPr>
          <a:xfrm>
            <a:off x="9899449" y="2819400"/>
            <a:ext cx="72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Firebase</a:t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9647546" y="3032275"/>
            <a:ext cx="1047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Backend Serverless</a:t>
            </a:r>
            <a:endParaRPr/>
          </a:p>
        </p:txBody>
      </p:sp>
      <p:pic>
        <p:nvPicPr>
          <p:cNvPr descr="image.png" id="306" name="Google Shape;306;p3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815703" y="3952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3"/>
          <p:cNvSpPr txBox="1"/>
          <p:nvPr/>
        </p:nvSpPr>
        <p:spPr>
          <a:xfrm>
            <a:off x="1553776" y="4429125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Tailwind CSS</a:t>
            </a:r>
            <a:endParaRPr/>
          </a:p>
        </p:txBody>
      </p:sp>
      <p:sp>
        <p:nvSpPr>
          <p:cNvPr id="308" name="Google Shape;308;p33"/>
          <p:cNvSpPr txBox="1"/>
          <p:nvPr/>
        </p:nvSpPr>
        <p:spPr>
          <a:xfrm>
            <a:off x="1491850" y="4638675"/>
            <a:ext cx="1171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Estilos Responsivos</a:t>
            </a:r>
            <a:endParaRPr/>
          </a:p>
        </p:txBody>
      </p:sp>
      <p:pic>
        <p:nvPicPr>
          <p:cNvPr descr="image.png" id="309" name="Google Shape;309;p3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94609" y="39529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 txBox="1"/>
          <p:nvPr/>
        </p:nvSpPr>
        <p:spPr>
          <a:xfrm>
            <a:off x="4508901" y="4429125"/>
            <a:ext cx="6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Vercel</a:t>
            </a:r>
            <a:endParaRPr/>
          </a:p>
        </p:txBody>
      </p:sp>
      <p:sp>
        <p:nvSpPr>
          <p:cNvPr id="311" name="Google Shape;311;p33"/>
          <p:cNvSpPr txBox="1"/>
          <p:nvPr/>
        </p:nvSpPr>
        <p:spPr>
          <a:xfrm>
            <a:off x="4218374" y="4638675"/>
            <a:ext cx="1028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Despliegue CI/CD</a:t>
            </a:r>
            <a:endParaRPr/>
          </a:p>
        </p:txBody>
      </p:sp>
      <p:pic>
        <p:nvPicPr>
          <p:cNvPr descr="image.png" id="312" name="Google Shape;312;p3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278290" y="3952875"/>
            <a:ext cx="3619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/>
        </p:nvSpPr>
        <p:spPr>
          <a:xfrm>
            <a:off x="6987826" y="4429125"/>
            <a:ext cx="107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Google Tools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6906175" y="4638675"/>
            <a:ext cx="120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Drive y </a:t>
            </a:r>
            <a:r>
              <a:rPr b="1" lang="en-US" sz="9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Stitch</a:t>
            </a:r>
            <a:endParaRPr b="1"/>
          </a:p>
        </p:txBody>
      </p:sp>
      <p:pic>
        <p:nvPicPr>
          <p:cNvPr descr="image.png" id="315" name="Google Shape;315;p3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995296" y="3952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/>
        </p:nvSpPr>
        <p:spPr>
          <a:xfrm>
            <a:off x="9747651" y="4429125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A5C"/>
                </a:solidFill>
                <a:latin typeface="Open Sans"/>
                <a:ea typeface="Open Sans"/>
                <a:cs typeface="Open Sans"/>
                <a:sym typeface="Open Sans"/>
              </a:rPr>
              <a:t>OWASP ZAP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9914334" y="4638675"/>
            <a:ext cx="5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Seguridad</a:t>
            </a:r>
            <a:endParaRPr/>
          </a:p>
        </p:txBody>
      </p:sp>
      <p:pic>
        <p:nvPicPr>
          <p:cNvPr id="318" name="Google Shape;318;p3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0432088" y="190487"/>
            <a:ext cx="154814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0" y="1767750"/>
            <a:ext cx="7091799" cy="46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 txBox="1"/>
          <p:nvPr/>
        </p:nvSpPr>
        <p:spPr>
          <a:xfrm>
            <a:off x="10601325" y="6296025"/>
            <a:ext cx="1209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Arquitectura Técnica Serverless</a:t>
            </a:r>
            <a:endParaRPr/>
          </a:p>
        </p:txBody>
      </p:sp>
      <p:sp>
        <p:nvSpPr>
          <p:cNvPr id="327" name="Google Shape;327;p34"/>
          <p:cNvSpPr/>
          <p:nvPr/>
        </p:nvSpPr>
        <p:spPr>
          <a:xfrm>
            <a:off x="762000" y="1123950"/>
            <a:ext cx="2638425" cy="1905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762000" y="1264188"/>
            <a:ext cx="37338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Diseño moderno enfocado en alta disponibilidad y seguridad en la nube.</a:t>
            </a:r>
            <a:endParaRPr b="0" i="0" sz="1650" u="none" cap="none" strike="noStrike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Utilizamos TypeScript y CSS</a:t>
            </a:r>
            <a:endParaRPr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762000" y="2495550"/>
            <a:ext cx="3733800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4"/>
          <p:cNvSpPr txBox="1"/>
          <p:nvPr/>
        </p:nvSpPr>
        <p:spPr>
          <a:xfrm>
            <a:off x="1419225" y="2638425"/>
            <a:ext cx="2838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Frontend:</a:t>
            </a: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Next.js (Web Responsiva) </a:t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>
            <a:off x="762000" y="3571875"/>
            <a:ext cx="3733800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4"/>
          <p:cNvSpPr txBox="1"/>
          <p:nvPr/>
        </p:nvSpPr>
        <p:spPr>
          <a:xfrm>
            <a:off x="1443632" y="3714750"/>
            <a:ext cx="2814042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Backend:</a:t>
            </a: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API Routes Seguras</a:t>
            </a:r>
            <a:endParaRPr/>
          </a:p>
        </p:txBody>
      </p:sp>
      <p:sp>
        <p:nvSpPr>
          <p:cNvPr id="333" name="Google Shape;333;p34"/>
          <p:cNvSpPr/>
          <p:nvPr/>
        </p:nvSpPr>
        <p:spPr>
          <a:xfrm>
            <a:off x="762000" y="4648200"/>
            <a:ext cx="3733800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1416099" y="4791075"/>
            <a:ext cx="28415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Datos:</a:t>
            </a: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Cloud Firestore (Realtime)</a:t>
            </a:r>
            <a:endParaRPr/>
          </a:p>
        </p:txBody>
      </p:sp>
      <p:sp>
        <p:nvSpPr>
          <p:cNvPr id="335" name="Google Shape;335;p34"/>
          <p:cNvSpPr/>
          <p:nvPr/>
        </p:nvSpPr>
        <p:spPr>
          <a:xfrm>
            <a:off x="762000" y="5724525"/>
            <a:ext cx="3733800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1476375" y="5867400"/>
            <a:ext cx="2781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Infra:</a:t>
            </a: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Vercel + Blob Storage</a:t>
            </a:r>
            <a:endParaRPr/>
          </a:p>
        </p:txBody>
      </p:sp>
      <p:sp>
        <p:nvSpPr>
          <p:cNvPr id="337" name="Google Shape;337;p34"/>
          <p:cNvSpPr/>
          <p:nvPr/>
        </p:nvSpPr>
        <p:spPr>
          <a:xfrm>
            <a:off x="762000" y="3419475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8479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4"/>
          <p:cNvSpPr/>
          <p:nvPr/>
        </p:nvSpPr>
        <p:spPr>
          <a:xfrm>
            <a:off x="762000" y="4495800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0" name="Google Shape;34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924300"/>
            <a:ext cx="2530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4"/>
          <p:cNvSpPr/>
          <p:nvPr/>
        </p:nvSpPr>
        <p:spPr>
          <a:xfrm>
            <a:off x="762000" y="5572125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2" name="Google Shape;342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5000625"/>
            <a:ext cx="22547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/>
          <p:nvPr/>
        </p:nvSpPr>
        <p:spPr>
          <a:xfrm>
            <a:off x="762000" y="6648450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60769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67575" y="1828950"/>
            <a:ext cx="6944325" cy="447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32088" y="190487"/>
            <a:ext cx="154814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10601325" y="6296025"/>
            <a:ext cx="1209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Caso de Uso: Ciclo de Mantenimiento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71450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Flujo digital completo desde el ingreso hasta la liberación del vehículo.</a:t>
            </a:r>
            <a:endParaRPr/>
          </a:p>
        </p:txBody>
      </p:sp>
      <p:sp>
        <p:nvSpPr>
          <p:cNvPr id="355" name="Google Shape;355;p35"/>
          <p:cNvSpPr/>
          <p:nvPr/>
        </p:nvSpPr>
        <p:spPr>
          <a:xfrm>
            <a:off x="762000" y="1123950"/>
            <a:ext cx="1304925" cy="1905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5"/>
          <p:cNvSpPr/>
          <p:nvPr/>
        </p:nvSpPr>
        <p:spPr>
          <a:xfrm>
            <a:off x="1195250" y="3176581"/>
            <a:ext cx="9906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1090612" y="3695700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Ingreso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1143000" y="4076700"/>
            <a:ext cx="20955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Guardia valida cita en web.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Sistema autoriza entrada.</a:t>
            </a:r>
            <a:endParaRPr/>
          </a:p>
        </p:txBody>
      </p:sp>
      <p:sp>
        <p:nvSpPr>
          <p:cNvPr id="359" name="Google Shape;359;p35"/>
          <p:cNvSpPr txBox="1"/>
          <p:nvPr/>
        </p:nvSpPr>
        <p:spPr>
          <a:xfrm>
            <a:off x="3694062" y="3695700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Asignación</a:t>
            </a:r>
            <a:endParaRPr/>
          </a:p>
        </p:txBody>
      </p:sp>
      <p:sp>
        <p:nvSpPr>
          <p:cNvPr id="360" name="Google Shape;360;p35"/>
          <p:cNvSpPr txBox="1"/>
          <p:nvPr/>
        </p:nvSpPr>
        <p:spPr>
          <a:xfrm>
            <a:off x="3746450" y="4076700"/>
            <a:ext cx="20955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Coordinador </a:t>
            </a: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visualiza "Pendiente"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y asigna mecánico.</a:t>
            </a:r>
            <a:endParaRPr/>
          </a:p>
        </p:txBody>
      </p:sp>
      <p:sp>
        <p:nvSpPr>
          <p:cNvPr id="361" name="Google Shape;361;p35"/>
          <p:cNvSpPr txBox="1"/>
          <p:nvPr/>
        </p:nvSpPr>
        <p:spPr>
          <a:xfrm>
            <a:off x="6297513" y="3695700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Ejecución</a:t>
            </a:r>
            <a:endParaRPr/>
          </a:p>
        </p:txBody>
      </p:sp>
      <p:sp>
        <p:nvSpPr>
          <p:cNvPr id="362" name="Google Shape;362;p35"/>
          <p:cNvSpPr txBox="1"/>
          <p:nvPr/>
        </p:nvSpPr>
        <p:spPr>
          <a:xfrm>
            <a:off x="6349900" y="4076700"/>
            <a:ext cx="20955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Mecánico accede vía web móvil,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sube foto y repuestos.</a:t>
            </a:r>
            <a:endParaRPr/>
          </a:p>
        </p:txBody>
      </p:sp>
      <p:sp>
        <p:nvSpPr>
          <p:cNvPr id="363" name="Google Shape;363;p35"/>
          <p:cNvSpPr txBox="1"/>
          <p:nvPr/>
        </p:nvSpPr>
        <p:spPr>
          <a:xfrm>
            <a:off x="8900963" y="3695700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Salida</a:t>
            </a:r>
            <a:endParaRPr/>
          </a:p>
        </p:txBody>
      </p:sp>
      <p:sp>
        <p:nvSpPr>
          <p:cNvPr id="364" name="Google Shape;364;p35"/>
          <p:cNvSpPr txBox="1"/>
          <p:nvPr/>
        </p:nvSpPr>
        <p:spPr>
          <a:xfrm>
            <a:off x="8953351" y="4076700"/>
            <a:ext cx="20955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Sistema valida cierre administrativo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antes de permitir salida.</a:t>
            </a:r>
            <a:endParaRPr/>
          </a:p>
        </p:txBody>
      </p:sp>
      <p:pic>
        <p:nvPicPr>
          <p:cNvPr descr="image.png" id="365" name="Google Shape;36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2262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5713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9163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8812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45000" y="375446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6"/>
          <p:cNvPicPr preferRelativeResize="0"/>
          <p:nvPr/>
        </p:nvPicPr>
        <p:blipFill rotWithShape="1">
          <a:blip r:embed="rId3">
            <a:alphaModFix/>
          </a:blip>
          <a:srcRect b="129" l="0" r="0" t="-130"/>
          <a:stretch/>
        </p:blipFill>
        <p:spPr>
          <a:xfrm>
            <a:off x="0" y="-45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6"/>
          <p:cNvPicPr preferRelativeResize="0"/>
          <p:nvPr/>
        </p:nvPicPr>
        <p:blipFill rotWithShape="1">
          <a:blip r:embed="rId4">
            <a:alphaModFix/>
          </a:blip>
          <a:srcRect b="0" l="0" r="0" t="5410"/>
          <a:stretch/>
        </p:blipFill>
        <p:spPr>
          <a:xfrm>
            <a:off x="930088" y="1194075"/>
            <a:ext cx="10331825" cy="53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6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BPMN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Caso de Uso: Ciclo de Mantenimiento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762000" y="171450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Flujo digital completo desde el ingreso hasta la liberación del vehículo.</a:t>
            </a:r>
            <a:endParaRPr/>
          </a:p>
        </p:txBody>
      </p:sp>
      <p:sp>
        <p:nvSpPr>
          <p:cNvPr id="384" name="Google Shape;384;p37"/>
          <p:cNvSpPr/>
          <p:nvPr/>
        </p:nvSpPr>
        <p:spPr>
          <a:xfrm>
            <a:off x="762000" y="1123950"/>
            <a:ext cx="13050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1195250" y="3176581"/>
            <a:ext cx="9906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1090612" y="369570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Ingreso</a:t>
            </a:r>
            <a:endParaRPr/>
          </a:p>
        </p:txBody>
      </p:sp>
      <p:sp>
        <p:nvSpPr>
          <p:cNvPr id="387" name="Google Shape;387;p37"/>
          <p:cNvSpPr txBox="1"/>
          <p:nvPr/>
        </p:nvSpPr>
        <p:spPr>
          <a:xfrm>
            <a:off x="1143000" y="4076700"/>
            <a:ext cx="2095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Guardia valida cita en web.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Sistema autoriza entrada.</a:t>
            </a:r>
            <a:endParaRPr/>
          </a:p>
        </p:txBody>
      </p:sp>
      <p:sp>
        <p:nvSpPr>
          <p:cNvPr id="388" name="Google Shape;388;p37"/>
          <p:cNvSpPr txBox="1"/>
          <p:nvPr/>
        </p:nvSpPr>
        <p:spPr>
          <a:xfrm>
            <a:off x="3694062" y="369570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Asignación</a:t>
            </a:r>
            <a:endParaRPr/>
          </a:p>
        </p:txBody>
      </p:sp>
      <p:sp>
        <p:nvSpPr>
          <p:cNvPr id="389" name="Google Shape;389;p37"/>
          <p:cNvSpPr txBox="1"/>
          <p:nvPr/>
        </p:nvSpPr>
        <p:spPr>
          <a:xfrm>
            <a:off x="3746450" y="4076700"/>
            <a:ext cx="20955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Coordinador </a:t>
            </a: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visualiza "Pendiente"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y asigna mecánico.</a:t>
            </a:r>
            <a:endParaRPr/>
          </a:p>
        </p:txBody>
      </p:sp>
      <p:sp>
        <p:nvSpPr>
          <p:cNvPr id="390" name="Google Shape;390;p37"/>
          <p:cNvSpPr txBox="1"/>
          <p:nvPr/>
        </p:nvSpPr>
        <p:spPr>
          <a:xfrm>
            <a:off x="6297513" y="369570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Ejecución</a:t>
            </a:r>
            <a:endParaRPr/>
          </a:p>
        </p:txBody>
      </p:sp>
      <p:sp>
        <p:nvSpPr>
          <p:cNvPr id="391" name="Google Shape;391;p37"/>
          <p:cNvSpPr txBox="1"/>
          <p:nvPr/>
        </p:nvSpPr>
        <p:spPr>
          <a:xfrm>
            <a:off x="6349900" y="4076700"/>
            <a:ext cx="20955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Mecánico accede vía web móvil,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sube foto y repuestos.</a:t>
            </a:r>
            <a:endParaRPr/>
          </a:p>
        </p:txBody>
      </p:sp>
      <p:sp>
        <p:nvSpPr>
          <p:cNvPr id="392" name="Google Shape;392;p37"/>
          <p:cNvSpPr txBox="1"/>
          <p:nvPr/>
        </p:nvSpPr>
        <p:spPr>
          <a:xfrm>
            <a:off x="8900963" y="3695700"/>
            <a:ext cx="2200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Salida</a:t>
            </a: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8953351" y="4076700"/>
            <a:ext cx="20955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Sistema valida cierre administrativo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antes de permitir salida.</a:t>
            </a:r>
            <a:endParaRPr/>
          </a:p>
        </p:txBody>
      </p:sp>
      <p:pic>
        <p:nvPicPr>
          <p:cNvPr descr="image.png" id="394" name="Google Shape;3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262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5713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39163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8812" y="29337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5000" y="375446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404" name="Google Shape;404;p38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Video Evidencia</a:t>
            </a:r>
            <a:endParaRPr/>
          </a:p>
        </p:txBody>
      </p:sp>
      <p:sp>
        <p:nvSpPr>
          <p:cNvPr id="405" name="Google Shape;405;p38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762000" y="542925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8" title="Video Capston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50" y="1250763"/>
            <a:ext cx="10782300" cy="49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9"/>
          <p:cNvSpPr txBox="1"/>
          <p:nvPr/>
        </p:nvSpPr>
        <p:spPr>
          <a:xfrm>
            <a:off x="10601325" y="6296025"/>
            <a:ext cx="1209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762000" y="571500"/>
            <a:ext cx="11201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5 Competencias Clave</a:t>
            </a:r>
            <a:endParaRPr/>
          </a:p>
        </p:txBody>
      </p:sp>
      <p:sp>
        <p:nvSpPr>
          <p:cNvPr id="416" name="Google Shape;416;p39"/>
          <p:cNvSpPr/>
          <p:nvPr/>
        </p:nvSpPr>
        <p:spPr>
          <a:xfrm>
            <a:off x="762000" y="1123950"/>
            <a:ext cx="4991100" cy="1905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762000" y="235267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1476375" y="2495550"/>
            <a:ext cx="41433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Desarrollo Web Full Stack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Frontend &amp; Backend Integration</a:t>
            </a:r>
            <a:endParaRPr/>
          </a:p>
        </p:txBody>
      </p:sp>
      <p:sp>
        <p:nvSpPr>
          <p:cNvPr id="419" name="Google Shape;419;p39"/>
          <p:cNvSpPr/>
          <p:nvPr/>
        </p:nvSpPr>
        <p:spPr>
          <a:xfrm>
            <a:off x="762000" y="3429000"/>
            <a:ext cx="5095875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9"/>
          <p:cNvSpPr txBox="1"/>
          <p:nvPr/>
        </p:nvSpPr>
        <p:spPr>
          <a:xfrm>
            <a:off x="1447800" y="3571875"/>
            <a:ext cx="41719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Arquitectura de Software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Diseño Cloud Serverless</a:t>
            </a:r>
            <a:endParaRPr/>
          </a:p>
        </p:txBody>
      </p:sp>
      <p:sp>
        <p:nvSpPr>
          <p:cNvPr id="421" name="Google Shape;421;p39"/>
          <p:cNvSpPr/>
          <p:nvPr/>
        </p:nvSpPr>
        <p:spPr>
          <a:xfrm>
            <a:off x="762000" y="450517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9"/>
          <p:cNvSpPr txBox="1"/>
          <p:nvPr/>
        </p:nvSpPr>
        <p:spPr>
          <a:xfrm>
            <a:off x="1476375" y="4648200"/>
            <a:ext cx="41433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Gestión de Proyectos Ágiles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Planificación Scrum</a:t>
            </a:r>
            <a:endParaRPr/>
          </a:p>
        </p:txBody>
      </p:sp>
      <p:sp>
        <p:nvSpPr>
          <p:cNvPr id="423" name="Google Shape;423;p39"/>
          <p:cNvSpPr/>
          <p:nvPr/>
        </p:nvSpPr>
        <p:spPr>
          <a:xfrm>
            <a:off x="6334125" y="2366962"/>
            <a:ext cx="5095875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9"/>
          <p:cNvSpPr txBox="1"/>
          <p:nvPr/>
        </p:nvSpPr>
        <p:spPr>
          <a:xfrm>
            <a:off x="7048500" y="2509837"/>
            <a:ext cx="4143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Aseguramiento de Calidad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Estrategias de validación</a:t>
            </a:r>
            <a:endParaRPr/>
          </a:p>
        </p:txBody>
      </p:sp>
      <p:sp>
        <p:nvSpPr>
          <p:cNvPr id="425" name="Google Shape;425;p39"/>
          <p:cNvSpPr/>
          <p:nvPr/>
        </p:nvSpPr>
        <p:spPr>
          <a:xfrm>
            <a:off x="6334125" y="3443287"/>
            <a:ext cx="5095875" cy="93345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6991275" y="3608362"/>
            <a:ext cx="4200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Seguridad de la Información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Protección de Datos</a:t>
            </a:r>
            <a:endParaRPr/>
          </a:p>
        </p:txBody>
      </p:sp>
      <p:sp>
        <p:nvSpPr>
          <p:cNvPr id="427" name="Google Shape;427;p39"/>
          <p:cNvSpPr/>
          <p:nvPr/>
        </p:nvSpPr>
        <p:spPr>
          <a:xfrm>
            <a:off x="762000" y="32766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8" name="Google Shape;42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650" y="27051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9"/>
          <p:cNvSpPr/>
          <p:nvPr/>
        </p:nvSpPr>
        <p:spPr>
          <a:xfrm>
            <a:off x="762000" y="43529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0" name="Google Shape;4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37814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/>
          <p:nvPr/>
        </p:nvSpPr>
        <p:spPr>
          <a:xfrm>
            <a:off x="762000" y="54292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2" name="Google Shape;43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48577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9"/>
          <p:cNvSpPr/>
          <p:nvPr/>
        </p:nvSpPr>
        <p:spPr>
          <a:xfrm>
            <a:off x="6334125" y="3290887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4" name="Google Shape;434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7193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9"/>
          <p:cNvSpPr/>
          <p:nvPr/>
        </p:nvSpPr>
        <p:spPr>
          <a:xfrm>
            <a:off x="6334125" y="4367212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6" name="Google Shape;436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37957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2" name="Google Shape;44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sp>
        <p:nvSpPr>
          <p:cNvPr id="445" name="Google Shape;445;p40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460675" y="145732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1091925" y="1622475"/>
            <a:ext cx="4143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Desarrollo Web Full Stack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Frontend &amp; Backend Integration</a:t>
            </a:r>
            <a:endParaRPr/>
          </a:p>
        </p:txBody>
      </p:sp>
      <p:sp>
        <p:nvSpPr>
          <p:cNvPr id="448" name="Google Shape;448;p40"/>
          <p:cNvSpPr/>
          <p:nvPr/>
        </p:nvSpPr>
        <p:spPr>
          <a:xfrm>
            <a:off x="615675" y="245960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9" name="Google Shape;44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175" y="18098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0"/>
          <p:cNvSpPr/>
          <p:nvPr/>
        </p:nvSpPr>
        <p:spPr>
          <a:xfrm>
            <a:off x="6240625" y="2459612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0"/>
          <p:cNvSpPr txBox="1"/>
          <p:nvPr/>
        </p:nvSpPr>
        <p:spPr>
          <a:xfrm>
            <a:off x="1091925" y="2703027"/>
            <a:ext cx="37338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Repositorio en Github:</a:t>
            </a:r>
            <a:endParaRPr b="1"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53" name="Google Shape;45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7063" y="2663888"/>
            <a:ext cx="26193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1017000" y="3533252"/>
            <a:ext cx="3733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Correcta Subida de </a:t>
            </a: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Imágenes</a:t>
            </a:r>
            <a:endParaRPr b="1"/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7">
            <a:alphaModFix/>
          </a:blip>
          <a:srcRect b="12991" l="12184" r="-25743" t="-26550"/>
          <a:stretch/>
        </p:blipFill>
        <p:spPr>
          <a:xfrm>
            <a:off x="4133650" y="3336900"/>
            <a:ext cx="438350" cy="4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7588" y="4021175"/>
            <a:ext cx="7738349" cy="252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463" name="Google Shape;463;p41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sp>
        <p:nvSpPr>
          <p:cNvPr id="464" name="Google Shape;464;p41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1"/>
          <p:cNvSpPr/>
          <p:nvPr/>
        </p:nvSpPr>
        <p:spPr>
          <a:xfrm>
            <a:off x="460675" y="145732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/>
          <p:nvPr/>
        </p:nvSpPr>
        <p:spPr>
          <a:xfrm>
            <a:off x="615675" y="245960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/>
          <p:nvPr/>
        </p:nvSpPr>
        <p:spPr>
          <a:xfrm>
            <a:off x="6240625" y="2459612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1"/>
          <p:cNvSpPr txBox="1"/>
          <p:nvPr/>
        </p:nvSpPr>
        <p:spPr>
          <a:xfrm>
            <a:off x="1171500" y="1612650"/>
            <a:ext cx="41721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Arquitectura de Software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Diseño Cloud Serverless</a:t>
            </a:r>
            <a:endParaRPr/>
          </a:p>
        </p:txBody>
      </p:sp>
      <p:pic>
        <p:nvPicPr>
          <p:cNvPr descr="image.png" id="470" name="Google Shape;47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175" y="18098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3098550"/>
            <a:ext cx="8553651" cy="28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893050" y="2587902"/>
            <a:ext cx="37338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Esquema de Vercel+Firebase</a:t>
            </a:r>
            <a:endParaRPr b="1"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25" y="3863825"/>
            <a:ext cx="4371950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478" name="Google Shape;47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479" name="Google Shape;4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5219721"/>
            <a:ext cx="4371975" cy="80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480" name="Google Shape;48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5169225"/>
            <a:ext cx="4371975" cy="907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481" name="Google Shape;4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500" y="5219700"/>
            <a:ext cx="42672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13" y="3814050"/>
            <a:ext cx="4371975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483" name="Google Shape;4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600" y="1914525"/>
            <a:ext cx="6614651" cy="381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sp>
        <p:nvSpPr>
          <p:cNvPr id="484" name="Google Shape;484;p42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485" name="Google Shape;485;p42"/>
          <p:cNvSpPr txBox="1"/>
          <p:nvPr/>
        </p:nvSpPr>
        <p:spPr>
          <a:xfrm>
            <a:off x="762000" y="571500"/>
            <a:ext cx="1120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Modelo de Datos NoSQL (Firestore)</a:t>
            </a:r>
            <a:endParaRPr/>
          </a:p>
        </p:txBody>
      </p:sp>
      <p:sp>
        <p:nvSpPr>
          <p:cNvPr id="486" name="Google Shape;486;p42"/>
          <p:cNvSpPr/>
          <p:nvPr/>
        </p:nvSpPr>
        <p:spPr>
          <a:xfrm>
            <a:off x="762000" y="1066800"/>
            <a:ext cx="28767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762000" y="1600200"/>
            <a:ext cx="4267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Estructura orientada a documentos para garantizar sincronización en tiempo real.</a:t>
            </a:r>
            <a:endParaRPr/>
          </a:p>
        </p:txBody>
      </p:sp>
      <p:pic>
        <p:nvPicPr>
          <p:cNvPr descr="image.png" id="488" name="Google Shape;48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2457450"/>
            <a:ext cx="4371975" cy="1143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sp>
        <p:nvSpPr>
          <p:cNvPr id="489" name="Google Shape;489;p42"/>
          <p:cNvSpPr/>
          <p:nvPr/>
        </p:nvSpPr>
        <p:spPr>
          <a:xfrm>
            <a:off x="762000" y="2457450"/>
            <a:ext cx="38100" cy="11430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2"/>
          <p:cNvSpPr/>
          <p:nvPr/>
        </p:nvSpPr>
        <p:spPr>
          <a:xfrm>
            <a:off x="762000" y="5219700"/>
            <a:ext cx="38100" cy="857400"/>
          </a:xfrm>
          <a:prstGeom prst="rect">
            <a:avLst/>
          </a:prstGeom>
          <a:solidFill>
            <a:srgbClr val="C900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1" name="Google Shape;49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39909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53721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26098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2"/>
          <p:cNvSpPr txBox="1"/>
          <p:nvPr/>
        </p:nvSpPr>
        <p:spPr>
          <a:xfrm>
            <a:off x="904875" y="2600325"/>
            <a:ext cx="4267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b="1" i="0" lang="en-US" sz="15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Colección Users: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Perfiles con roles definidos (</a:t>
            </a: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Supervisor</a:t>
            </a: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Mecánico, Guardia, Coordinado</a:t>
            </a: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 y Conductor</a:t>
            </a: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/>
          </a:p>
        </p:txBody>
      </p:sp>
      <p:sp>
        <p:nvSpPr>
          <p:cNvPr id="495" name="Google Shape;495;p42"/>
          <p:cNvSpPr/>
          <p:nvPr/>
        </p:nvSpPr>
        <p:spPr>
          <a:xfrm>
            <a:off x="762000" y="3838575"/>
            <a:ext cx="38100" cy="1143000"/>
          </a:xfrm>
          <a:prstGeom prst="rect">
            <a:avLst/>
          </a:prstGeom>
          <a:solidFill>
            <a:srgbClr val="004B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904875" y="5362575"/>
            <a:ext cx="398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      </a:t>
            </a:r>
            <a:r>
              <a:rPr b="1" i="0" lang="en-US" sz="15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Colección </a:t>
            </a: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Vehículos</a:t>
            </a:r>
            <a:r>
              <a:rPr b="1" i="0" lang="en-US" sz="15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Historial y datos maestros de la flota.</a:t>
            </a:r>
            <a:endParaRPr/>
          </a:p>
        </p:txBody>
      </p:sp>
      <p:pic>
        <p:nvPicPr>
          <p:cNvPr id="497" name="Google Shape;497;p4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32088" y="190487"/>
            <a:ext cx="154814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2"/>
          <p:cNvSpPr txBox="1"/>
          <p:nvPr/>
        </p:nvSpPr>
        <p:spPr>
          <a:xfrm>
            <a:off x="904875" y="3981450"/>
            <a:ext cx="398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r>
              <a:rPr b="1" i="0" lang="en-US" sz="15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Colección</a:t>
            </a: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Órdenes</a:t>
            </a: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de trabajo</a:t>
            </a:r>
            <a:r>
              <a:rPr b="1" i="0" lang="en-US" sz="150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b="1" lang="en-US" sz="150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    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Documento central transaccional que cambia de estado.</a:t>
            </a:r>
            <a:endParaRPr/>
          </a:p>
        </p:txBody>
      </p:sp>
      <p:pic>
        <p:nvPicPr>
          <p:cNvPr id="499" name="Google Shape;499;p42" title="enfoques mejorado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58325" y="2006700"/>
            <a:ext cx="6452598" cy="36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4" name="Google Shape;50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3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506" name="Google Shape;506;p43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sp>
        <p:nvSpPr>
          <p:cNvPr id="507" name="Google Shape;507;p43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3"/>
          <p:cNvSpPr/>
          <p:nvPr/>
        </p:nvSpPr>
        <p:spPr>
          <a:xfrm>
            <a:off x="460675" y="145732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615675" y="245960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3"/>
          <p:cNvSpPr/>
          <p:nvPr/>
        </p:nvSpPr>
        <p:spPr>
          <a:xfrm>
            <a:off x="6240625" y="2459612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1" name="Google Shape;51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3"/>
          <p:cNvSpPr txBox="1"/>
          <p:nvPr/>
        </p:nvSpPr>
        <p:spPr>
          <a:xfrm>
            <a:off x="1091925" y="1621450"/>
            <a:ext cx="4143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Aseguramiento de Calidad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Estrategias de validación</a:t>
            </a:r>
            <a:endParaRPr/>
          </a:p>
        </p:txBody>
      </p:sp>
      <p:pic>
        <p:nvPicPr>
          <p:cNvPr descr="image.png" id="513" name="Google Shape;51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950" y="18098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1575" y="3230763"/>
            <a:ext cx="7571824" cy="252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3"/>
          <p:cNvSpPr txBox="1"/>
          <p:nvPr/>
        </p:nvSpPr>
        <p:spPr>
          <a:xfrm>
            <a:off x="5473650" y="2650900"/>
            <a:ext cx="5127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Katalon Recorder: Recorrido Exitoso por el login</a:t>
            </a:r>
            <a:endParaRPr b="1"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516" name="Google Shape;516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274" y="3147924"/>
            <a:ext cx="4143300" cy="2687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1" name="Google Shape;5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025" y="-72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4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523" name="Google Shape;523;p44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sp>
        <p:nvSpPr>
          <p:cNvPr id="524" name="Google Shape;524;p44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4"/>
          <p:cNvSpPr/>
          <p:nvPr/>
        </p:nvSpPr>
        <p:spPr>
          <a:xfrm>
            <a:off x="460675" y="145732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4"/>
          <p:cNvSpPr/>
          <p:nvPr/>
        </p:nvSpPr>
        <p:spPr>
          <a:xfrm>
            <a:off x="615675" y="245960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6240625" y="2459612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8" name="Google Shape;52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990800" y="1622487"/>
            <a:ext cx="4200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Seguridad de la Información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Protección de Datos</a:t>
            </a:r>
            <a:endParaRPr/>
          </a:p>
        </p:txBody>
      </p:sp>
      <p:pic>
        <p:nvPicPr>
          <p:cNvPr id="530" name="Google Shape;530;p44"/>
          <p:cNvPicPr preferRelativeResize="0"/>
          <p:nvPr/>
        </p:nvPicPr>
        <p:blipFill rotWithShape="1">
          <a:blip r:embed="rId5">
            <a:alphaModFix/>
          </a:blip>
          <a:srcRect b="0" l="0" r="11582" t="13186"/>
          <a:stretch/>
        </p:blipFill>
        <p:spPr>
          <a:xfrm>
            <a:off x="762000" y="3554600"/>
            <a:ext cx="6101200" cy="1486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4"/>
          <p:cNvSpPr txBox="1"/>
          <p:nvPr/>
        </p:nvSpPr>
        <p:spPr>
          <a:xfrm>
            <a:off x="813500" y="3046550"/>
            <a:ext cx="5998200" cy="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Reporte OWASP ZAP: </a:t>
            </a: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con</a:t>
            </a: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-US" sz="17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0 </a:t>
            </a: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Vulnerabilidades Críticas</a:t>
            </a:r>
            <a:endParaRPr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532" name="Google Shape;53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678" y="1786013"/>
            <a:ext cx="276248" cy="27622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3" name="Google Shape;533;p44"/>
          <p:cNvSpPr txBox="1"/>
          <p:nvPr/>
        </p:nvSpPr>
        <p:spPr>
          <a:xfrm>
            <a:off x="891925" y="5213526"/>
            <a:ext cx="55779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Además, implementamos gestión de identidad segura mediante </a:t>
            </a:r>
            <a:r>
              <a:rPr b="1" lang="en-US" sz="1650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Firebase Authentication</a:t>
            </a:r>
            <a:endParaRPr sz="1650">
              <a:solidFill>
                <a:srgbClr val="2D374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534" name="Google Shape;534;p44"/>
          <p:cNvPicPr preferRelativeResize="0"/>
          <p:nvPr/>
        </p:nvPicPr>
        <p:blipFill rotWithShape="1">
          <a:blip r:embed="rId7">
            <a:alphaModFix/>
          </a:blip>
          <a:srcRect b="12991" l="12184" r="-25743" t="-26550"/>
          <a:stretch/>
        </p:blipFill>
        <p:spPr>
          <a:xfrm>
            <a:off x="4479075" y="5395900"/>
            <a:ext cx="438350" cy="4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4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56163" y="2650088"/>
            <a:ext cx="43529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0" name="Google Shape;54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75" y="-517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5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542" name="Google Shape;542;p45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Competencias</a:t>
            </a:r>
            <a:endParaRPr/>
          </a:p>
        </p:txBody>
      </p:sp>
      <p:sp>
        <p:nvSpPr>
          <p:cNvPr id="543" name="Google Shape;543;p45"/>
          <p:cNvSpPr/>
          <p:nvPr/>
        </p:nvSpPr>
        <p:spPr>
          <a:xfrm>
            <a:off x="762000" y="1123950"/>
            <a:ext cx="49911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460675" y="1457325"/>
            <a:ext cx="5095800" cy="933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5"/>
          <p:cNvSpPr/>
          <p:nvPr/>
        </p:nvSpPr>
        <p:spPr>
          <a:xfrm>
            <a:off x="615675" y="2459600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5"/>
          <p:cNvSpPr/>
          <p:nvPr/>
        </p:nvSpPr>
        <p:spPr>
          <a:xfrm>
            <a:off x="6240625" y="2459612"/>
            <a:ext cx="5095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675" y="18088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5"/>
          <p:cNvSpPr txBox="1"/>
          <p:nvPr/>
        </p:nvSpPr>
        <p:spPr>
          <a:xfrm>
            <a:off x="1091925" y="1621450"/>
            <a:ext cx="4143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B93"/>
                </a:solidFill>
                <a:latin typeface="Open Sans"/>
                <a:ea typeface="Open Sans"/>
                <a:cs typeface="Open Sans"/>
                <a:sym typeface="Open Sans"/>
              </a:rPr>
              <a:t>Gestión de Proyectos Ágiles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Planificación Scrum</a:t>
            </a:r>
            <a:endParaRPr/>
          </a:p>
        </p:txBody>
      </p:sp>
      <p:pic>
        <p:nvPicPr>
          <p:cNvPr id="550" name="Google Shape;55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4725" y="2738500"/>
            <a:ext cx="9867900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5" name="Google Shape;5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6" name="Google Shape;55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362200"/>
            <a:ext cx="5143500" cy="1984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557" name="Google Shape;55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62200"/>
            <a:ext cx="5143500" cy="198492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pic>
        <p:nvPicPr>
          <p:cNvPr descr="image.png" id="558" name="Google Shape;55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537620"/>
            <a:ext cx="10668000" cy="171063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80000"/>
              </a:srgbClr>
            </a:outerShdw>
          </a:effectLst>
        </p:spPr>
      </p:pic>
      <p:sp>
        <p:nvSpPr>
          <p:cNvPr id="559" name="Google Shape;559;p46"/>
          <p:cNvSpPr txBox="1"/>
          <p:nvPr/>
        </p:nvSpPr>
        <p:spPr>
          <a:xfrm>
            <a:off x="10601325" y="6296025"/>
            <a:ext cx="120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PEPSICO</a:t>
            </a:r>
            <a:endParaRPr/>
          </a:p>
        </p:txBody>
      </p:sp>
      <p:sp>
        <p:nvSpPr>
          <p:cNvPr id="560" name="Google Shape;560;p46"/>
          <p:cNvSpPr txBox="1"/>
          <p:nvPr/>
        </p:nvSpPr>
        <p:spPr>
          <a:xfrm>
            <a:off x="762000" y="571500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B93"/>
                </a:solidFill>
                <a:latin typeface="Montserrat"/>
                <a:ea typeface="Montserrat"/>
                <a:cs typeface="Montserrat"/>
                <a:sym typeface="Montserrat"/>
              </a:rPr>
              <a:t>Aprendizaje y Crecimiento </a:t>
            </a:r>
            <a:endParaRPr/>
          </a:p>
        </p:txBody>
      </p:sp>
      <p:sp>
        <p:nvSpPr>
          <p:cNvPr id="561" name="Google Shape;561;p46"/>
          <p:cNvSpPr txBox="1"/>
          <p:nvPr/>
        </p:nvSpPr>
        <p:spPr>
          <a:xfrm>
            <a:off x="762000" y="171450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D3748"/>
                </a:solidFill>
                <a:latin typeface="Open Sans"/>
                <a:ea typeface="Open Sans"/>
                <a:cs typeface="Open Sans"/>
                <a:sym typeface="Open Sans"/>
              </a:rPr>
              <a:t>Este proyecto marcó la transición de estudiantes a ingenieros capaces de resolver problemas reales.</a:t>
            </a:r>
            <a:endParaRPr/>
          </a:p>
        </p:txBody>
      </p:sp>
      <p:sp>
        <p:nvSpPr>
          <p:cNvPr id="562" name="Google Shape;562;p46"/>
          <p:cNvSpPr/>
          <p:nvPr/>
        </p:nvSpPr>
        <p:spPr>
          <a:xfrm>
            <a:off x="762000" y="1123950"/>
            <a:ext cx="3876600" cy="192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6"/>
          <p:cNvSpPr txBox="1"/>
          <p:nvPr/>
        </p:nvSpPr>
        <p:spPr>
          <a:xfrm>
            <a:off x="1419225" y="2647950"/>
            <a:ext cx="441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Del Aula a la Realidad</a:t>
            </a:r>
            <a:endParaRPr/>
          </a:p>
        </p:txBody>
      </p:sp>
      <p:sp>
        <p:nvSpPr>
          <p:cNvPr id="564" name="Google Shape;564;p46"/>
          <p:cNvSpPr txBox="1"/>
          <p:nvPr/>
        </p:nvSpPr>
        <p:spPr>
          <a:xfrm>
            <a:off x="1104900" y="3095625"/>
            <a:ext cx="451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Aprendimos a adaptar la teoría académica a un entorno empresarial con restricciones reales, donde los alcances son clave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565" name="Google Shape;565;p46"/>
          <p:cNvSpPr txBox="1"/>
          <p:nvPr/>
        </p:nvSpPr>
        <p:spPr>
          <a:xfrm>
            <a:off x="7000875" y="2647950"/>
            <a:ext cx="43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Resiliencia Técnica</a:t>
            </a:r>
            <a:endParaRPr/>
          </a:p>
        </p:txBody>
      </p:sp>
      <p:sp>
        <p:nvSpPr>
          <p:cNvPr id="566" name="Google Shape;566;p46"/>
          <p:cNvSpPr txBox="1"/>
          <p:nvPr/>
        </p:nvSpPr>
        <p:spPr>
          <a:xfrm>
            <a:off x="6629400" y="3095625"/>
            <a:ext cx="45150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Superamos desafíos complejos, como la 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reinvención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de nuestra 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página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demostrando capacidad 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de flexibilizar nuestro trabajo.</a:t>
            </a:r>
            <a:endParaRPr/>
          </a:p>
        </p:txBody>
      </p:sp>
      <p:sp>
        <p:nvSpPr>
          <p:cNvPr id="567" name="Google Shape;567;p46"/>
          <p:cNvSpPr txBox="1"/>
          <p:nvPr/>
        </p:nvSpPr>
        <p:spPr>
          <a:xfrm>
            <a:off x="1533525" y="4823370"/>
            <a:ext cx="1009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A5C"/>
                </a:solidFill>
                <a:latin typeface="Montserrat"/>
                <a:ea typeface="Montserrat"/>
                <a:cs typeface="Montserrat"/>
                <a:sym typeface="Montserrat"/>
              </a:rPr>
              <a:t>Trabajo en Equipo</a:t>
            </a:r>
            <a:endParaRPr/>
          </a:p>
        </p:txBody>
      </p:sp>
      <p:sp>
        <p:nvSpPr>
          <p:cNvPr id="568" name="Google Shape;568;p46"/>
          <p:cNvSpPr txBox="1"/>
          <p:nvPr/>
        </p:nvSpPr>
        <p:spPr>
          <a:xfrm>
            <a:off x="1104900" y="5271045"/>
            <a:ext cx="10039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Consolidamos un flujo de trabajo profesional, </a:t>
            </a:r>
            <a:r>
              <a:rPr lang="en-US" sz="1350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cordinando</a:t>
            </a:r>
            <a:r>
              <a:rPr b="0" i="0" lang="en-US" sz="1350" u="none" cap="none" strike="noStrike">
                <a:solidFill>
                  <a:srgbClr val="718096"/>
                </a:solidFill>
                <a:latin typeface="Open Sans"/>
                <a:ea typeface="Open Sans"/>
                <a:cs typeface="Open Sans"/>
                <a:sym typeface="Open Sans"/>
              </a:rPr>
              <a:t> Frontend, Backend y QA bajo presión para cumplir con entregas semanales.</a:t>
            </a:r>
            <a:endParaRPr/>
          </a:p>
        </p:txBody>
      </p:sp>
      <p:pic>
        <p:nvPicPr>
          <p:cNvPr descr="image.png" id="569" name="Google Shape;56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6717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67176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1" name="Google Shape;571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4900" y="484718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7" name="Google Shape;5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7"/>
          <p:cNvSpPr txBox="1"/>
          <p:nvPr/>
        </p:nvSpPr>
        <p:spPr>
          <a:xfrm>
            <a:off x="2225516" y="1538287"/>
            <a:ext cx="7740967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pic>
        <p:nvPicPr>
          <p:cNvPr descr="image.png" id="579" name="Google Shape;57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50" y="3619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47"/>
          <p:cNvSpPr txBox="1"/>
          <p:nvPr/>
        </p:nvSpPr>
        <p:spPr>
          <a:xfrm>
            <a:off x="4124350" y="4161200"/>
            <a:ext cx="122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Felipe Carrasco</a:t>
            </a:r>
            <a:endParaRPr/>
          </a:p>
        </p:txBody>
      </p:sp>
      <p:sp>
        <p:nvSpPr>
          <p:cNvPr id="581" name="Google Shape;581;p47"/>
          <p:cNvSpPr txBox="1"/>
          <p:nvPr/>
        </p:nvSpPr>
        <p:spPr>
          <a:xfrm>
            <a:off x="6734187" y="4161212"/>
            <a:ext cx="152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Carlos Bustamante</a:t>
            </a:r>
            <a:endParaRPr/>
          </a:p>
        </p:txBody>
      </p:sp>
      <p:pic>
        <p:nvPicPr>
          <p:cNvPr descr="image.png" id="582" name="Google Shape;58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9512" y="36195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000" y="295271"/>
            <a:ext cx="112233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4347000"/>
            <a:ext cx="12192001" cy="86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8"/>
          <p:cNvPicPr preferRelativeResize="0"/>
          <p:nvPr/>
        </p:nvPicPr>
        <p:blipFill rotWithShape="1">
          <a:blip r:embed="rId4">
            <a:alphaModFix/>
          </a:blip>
          <a:srcRect b="-3970" l="0" r="0" t="3970"/>
          <a:stretch/>
        </p:blipFill>
        <p:spPr>
          <a:xfrm>
            <a:off x="106006" y="-933054"/>
            <a:ext cx="2925369" cy="2925369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8"/>
          <p:cNvSpPr txBox="1"/>
          <p:nvPr>
            <p:ph idx="1" type="body"/>
          </p:nvPr>
        </p:nvSpPr>
        <p:spPr>
          <a:xfrm>
            <a:off x="1532210" y="4497948"/>
            <a:ext cx="912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 sz="3600">
                <a:solidFill>
                  <a:schemeClr val="lt1"/>
                </a:solidFill>
              </a:rPr>
              <a:t>¡MUCHAS GRACIAS POR SU ATENCION!</a:t>
            </a:r>
            <a:endParaRPr sz="3600">
              <a:solidFill>
                <a:schemeClr val="lt1"/>
              </a:solidFill>
            </a:endParaRPr>
          </a:p>
        </p:txBody>
      </p:sp>
      <p:sp>
        <p:nvSpPr>
          <p:cNvPr id="591" name="Google Shape;591;p48"/>
          <p:cNvSpPr txBox="1"/>
          <p:nvPr>
            <p:ph idx="1" type="body"/>
          </p:nvPr>
        </p:nvSpPr>
        <p:spPr>
          <a:xfrm>
            <a:off x="1562562" y="4497941"/>
            <a:ext cx="912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 sz="3600"/>
              <a:t>¡MUCHAS GRACIAS POR SU ATENCION!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