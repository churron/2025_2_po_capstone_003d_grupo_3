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odec Pro Bold" charset="1" panose="00000600000000000000"/>
      <p:regular r:id="rId22"/>
    </p:embeddedFont>
    <p:embeddedFont>
      <p:font typeface="Codec Pro Ultra-Bold" charset="1" panose="00000700000000000000"/>
      <p:regular r:id="rId23"/>
    </p:embeddedFont>
    <p:embeddedFont>
      <p:font typeface="Codec Pro" charset="1" panose="00000500000000000000"/>
      <p:regular r:id="rId24"/>
    </p:embeddedFont>
    <p:embeddedFont>
      <p:font typeface="Open Sans Bold" charset="1" panose="020B0806030504020204"/>
      <p:regular r:id="rId25"/>
    </p:embeddedFont>
    <p:embeddedFont>
      <p:font typeface="Open Sans" charset="1" panose="020B06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6.jpeg" Type="http://schemas.openxmlformats.org/officeDocument/2006/relationships/image"/><Relationship Id="rId5" Target="../media/image2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3384" y="-167508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41048" y="53781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04533" y="-494599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275713" y="46256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15772" y="3579738"/>
            <a:ext cx="7079888" cy="6707262"/>
          </a:xfrm>
          <a:custGeom>
            <a:avLst/>
            <a:gdLst/>
            <a:ahLst/>
            <a:cxnLst/>
            <a:rect r="r" b="b" t="t" l="l"/>
            <a:pathLst>
              <a:path h="6707262" w="7079888">
                <a:moveTo>
                  <a:pt x="0" y="0"/>
                </a:moveTo>
                <a:lnTo>
                  <a:pt x="7079887" y="0"/>
                </a:lnTo>
                <a:lnTo>
                  <a:pt x="7079887" y="6707262"/>
                </a:lnTo>
                <a:lnTo>
                  <a:pt x="0" y="6707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08717" y="2822258"/>
            <a:ext cx="1082468" cy="1007297"/>
          </a:xfrm>
          <a:custGeom>
            <a:avLst/>
            <a:gdLst/>
            <a:ahLst/>
            <a:cxnLst/>
            <a:rect r="r" b="b" t="t" l="l"/>
            <a:pathLst>
              <a:path h="1007297" w="1082468">
                <a:moveTo>
                  <a:pt x="0" y="0"/>
                </a:moveTo>
                <a:lnTo>
                  <a:pt x="1082469" y="0"/>
                </a:lnTo>
                <a:lnTo>
                  <a:pt x="1082469" y="1007297"/>
                </a:lnTo>
                <a:lnTo>
                  <a:pt x="0" y="100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20880" y="3896230"/>
            <a:ext cx="10353614" cy="328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7"/>
              </a:lnSpc>
            </a:pPr>
            <a:r>
              <a:rPr lang="en-US" b="true" sz="656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Digitalización del Taller Mecánico ATP: Innovando la Gestión de Flota para PepsiCo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85391" y="678827"/>
            <a:ext cx="2200244" cy="1259399"/>
          </a:xfrm>
          <a:custGeom>
            <a:avLst/>
            <a:gdLst/>
            <a:ahLst/>
            <a:cxnLst/>
            <a:rect r="r" b="b" t="t" l="l"/>
            <a:pathLst>
              <a:path h="1259399" w="2200244">
                <a:moveTo>
                  <a:pt x="0" y="0"/>
                </a:moveTo>
                <a:lnTo>
                  <a:pt x="2200244" y="0"/>
                </a:lnTo>
                <a:lnTo>
                  <a:pt x="2200244" y="1259399"/>
                </a:lnTo>
                <a:lnTo>
                  <a:pt x="0" y="1259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4780" y="4931410"/>
            <a:ext cx="1281061" cy="1281061"/>
          </a:xfrm>
          <a:custGeom>
            <a:avLst/>
            <a:gdLst/>
            <a:ahLst/>
            <a:cxnLst/>
            <a:rect r="r" b="b" t="t" l="l"/>
            <a:pathLst>
              <a:path h="1281061" w="1281061">
                <a:moveTo>
                  <a:pt x="0" y="0"/>
                </a:moveTo>
                <a:lnTo>
                  <a:pt x="1281061" y="0"/>
                </a:lnTo>
                <a:lnTo>
                  <a:pt x="1281061" y="1281061"/>
                </a:lnTo>
                <a:lnTo>
                  <a:pt x="0" y="12810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2791" y="2649791"/>
            <a:ext cx="925038" cy="1429131"/>
          </a:xfrm>
          <a:custGeom>
            <a:avLst/>
            <a:gdLst/>
            <a:ahLst/>
            <a:cxnLst/>
            <a:rect r="r" b="b" t="t" l="l"/>
            <a:pathLst>
              <a:path h="1429131" w="925038">
                <a:moveTo>
                  <a:pt x="0" y="0"/>
                </a:moveTo>
                <a:lnTo>
                  <a:pt x="925038" y="0"/>
                </a:lnTo>
                <a:lnTo>
                  <a:pt x="925038" y="1429131"/>
                </a:lnTo>
                <a:lnTo>
                  <a:pt x="0" y="14291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6522" y="7060196"/>
            <a:ext cx="1537577" cy="1361455"/>
          </a:xfrm>
          <a:custGeom>
            <a:avLst/>
            <a:gdLst/>
            <a:ahLst/>
            <a:cxnLst/>
            <a:rect r="r" b="b" t="t" l="l"/>
            <a:pathLst>
              <a:path h="1361455" w="1537577">
                <a:moveTo>
                  <a:pt x="0" y="0"/>
                </a:moveTo>
                <a:lnTo>
                  <a:pt x="1537577" y="0"/>
                </a:lnTo>
                <a:lnTo>
                  <a:pt x="1537577" y="1361455"/>
                </a:lnTo>
                <a:lnTo>
                  <a:pt x="0" y="13614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12218" y="57150"/>
            <a:ext cx="7517590" cy="244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OPTIMICE LA GESTIÓN DEL TALLER MECÁNICO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2845" y="5386114"/>
            <a:ext cx="1169818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Reducción de la eficiencia operativa por controles inadecuados y procesos lentos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Dificultad para generar reportes confiables que apoyen la toma de decisiones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Limitada capacidad de respuesta y control sobre la flota ante situaciones imprevistas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12845" y="2592641"/>
            <a:ext cx="11698188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Dependencia d</a:t>
            </a: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procesos manuales y herramientas no integradas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12845" y="4874260"/>
            <a:ext cx="5290840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</a:t>
            </a: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cto operativo y gerencial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64042" y="7125012"/>
            <a:ext cx="11595795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Reflejo d</a:t>
            </a: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un problema común en organizaciones no digitalizadas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12845" y="7568242"/>
            <a:ext cx="1169818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Numerosas empresas enfrentan desafíos similares por ausencia de digitalización en sus procesos operativos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Necesidad urgente de soluciones que integren y automaticen la gestión para mejorar resultados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112845" y="3102547"/>
            <a:ext cx="1169818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Uso exclusivo de hojas de cálculo (Excel) y mensajería instantánea (WhatsApp) para la gestión diaria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Generación frecuente de duplicidad de información y pérdida de datos críticos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Falta de automatización que limita la trazabilidad efectiva de los vehículos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935" y="695244"/>
            <a:ext cx="16764130" cy="8896513"/>
          </a:xfrm>
          <a:custGeom>
            <a:avLst/>
            <a:gdLst/>
            <a:ahLst/>
            <a:cxnLst/>
            <a:rect r="r" b="b" t="t" l="l"/>
            <a:pathLst>
              <a:path h="8896513" w="16764130">
                <a:moveTo>
                  <a:pt x="0" y="0"/>
                </a:moveTo>
                <a:lnTo>
                  <a:pt x="16764130" y="0"/>
                </a:lnTo>
                <a:lnTo>
                  <a:pt x="16764130" y="8896512"/>
                </a:lnTo>
                <a:lnTo>
                  <a:pt x="0" y="889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l="0" t="-12419" r="0" b="-1241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75560" y="1028700"/>
            <a:ext cx="12275473" cy="8229600"/>
            <a:chOff x="0" y="0"/>
            <a:chExt cx="323304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33046" cy="2167467"/>
            </a:xfrm>
            <a:custGeom>
              <a:avLst/>
              <a:gdLst/>
              <a:ahLst/>
              <a:cxnLst/>
              <a:rect r="r" b="b" t="t" l="l"/>
              <a:pathLst>
                <a:path h="2167467" w="3233046">
                  <a:moveTo>
                    <a:pt x="20182" y="0"/>
                  </a:moveTo>
                  <a:lnTo>
                    <a:pt x="3212865" y="0"/>
                  </a:lnTo>
                  <a:cubicBezTo>
                    <a:pt x="3218217" y="0"/>
                    <a:pt x="3223351" y="2126"/>
                    <a:pt x="3227135" y="5911"/>
                  </a:cubicBezTo>
                  <a:cubicBezTo>
                    <a:pt x="3230920" y="9696"/>
                    <a:pt x="3233046" y="14829"/>
                    <a:pt x="3233046" y="20182"/>
                  </a:cubicBezTo>
                  <a:lnTo>
                    <a:pt x="3233046" y="2147285"/>
                  </a:lnTo>
                  <a:cubicBezTo>
                    <a:pt x="3233046" y="2158431"/>
                    <a:pt x="3224011" y="2167467"/>
                    <a:pt x="3212865" y="2167467"/>
                  </a:cubicBezTo>
                  <a:lnTo>
                    <a:pt x="20182" y="2167467"/>
                  </a:lnTo>
                  <a:cubicBezTo>
                    <a:pt x="14829" y="2167467"/>
                    <a:pt x="9696" y="2165341"/>
                    <a:pt x="5911" y="2161556"/>
                  </a:cubicBezTo>
                  <a:cubicBezTo>
                    <a:pt x="2126" y="2157771"/>
                    <a:pt x="0" y="2152637"/>
                    <a:pt x="0" y="2147285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3304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16496" y="2194813"/>
            <a:ext cx="11262560" cy="192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3"/>
              </a:lnSpc>
            </a:pPr>
            <a:r>
              <a:rPr lang="en-US" sz="5036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PLATAFORMA ATP: POTENCIANDO LA GESTIÓN ESTRATÉGICA DE FLOTAS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3028" y="535426"/>
            <a:ext cx="2726935" cy="1621287"/>
          </a:xfrm>
          <a:custGeom>
            <a:avLst/>
            <a:gdLst/>
            <a:ahLst/>
            <a:cxnLst/>
            <a:rect r="r" b="b" t="t" l="l"/>
            <a:pathLst>
              <a:path h="1621287" w="2726935">
                <a:moveTo>
                  <a:pt x="0" y="0"/>
                </a:moveTo>
                <a:lnTo>
                  <a:pt x="2726935" y="0"/>
                </a:lnTo>
                <a:lnTo>
                  <a:pt x="2726935" y="1621287"/>
                </a:lnTo>
                <a:lnTo>
                  <a:pt x="0" y="162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1156" y="1610537"/>
            <a:ext cx="2599390" cy="1545456"/>
          </a:xfrm>
          <a:custGeom>
            <a:avLst/>
            <a:gdLst/>
            <a:ahLst/>
            <a:cxnLst/>
            <a:rect r="r" b="b" t="t" l="l"/>
            <a:pathLst>
              <a:path h="1545456" w="2599390">
                <a:moveTo>
                  <a:pt x="0" y="0"/>
                </a:moveTo>
                <a:lnTo>
                  <a:pt x="2599391" y="0"/>
                </a:lnTo>
                <a:lnTo>
                  <a:pt x="2599391" y="1545455"/>
                </a:lnTo>
                <a:lnTo>
                  <a:pt x="0" y="154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75865" y="4656963"/>
            <a:ext cx="2004099" cy="2004099"/>
          </a:xfrm>
          <a:custGeom>
            <a:avLst/>
            <a:gdLst/>
            <a:ahLst/>
            <a:cxnLst/>
            <a:rect r="r" b="b" t="t" l="l"/>
            <a:pathLst>
              <a:path h="2004099" w="2004099">
                <a:moveTo>
                  <a:pt x="0" y="0"/>
                </a:moveTo>
                <a:lnTo>
                  <a:pt x="2004098" y="0"/>
                </a:lnTo>
                <a:lnTo>
                  <a:pt x="2004098" y="2004099"/>
                </a:lnTo>
                <a:lnTo>
                  <a:pt x="0" y="2004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37522" y="7076381"/>
            <a:ext cx="1680784" cy="1680784"/>
          </a:xfrm>
          <a:custGeom>
            <a:avLst/>
            <a:gdLst/>
            <a:ahLst/>
            <a:cxnLst/>
            <a:rect r="r" b="b" t="t" l="l"/>
            <a:pathLst>
              <a:path h="1680784" w="1680784">
                <a:moveTo>
                  <a:pt x="0" y="0"/>
                </a:moveTo>
                <a:lnTo>
                  <a:pt x="1680784" y="0"/>
                </a:lnTo>
                <a:lnTo>
                  <a:pt x="1680784" y="1680783"/>
                </a:lnTo>
                <a:lnTo>
                  <a:pt x="0" y="1680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00648" y="4529173"/>
            <a:ext cx="2486704" cy="1656766"/>
          </a:xfrm>
          <a:custGeom>
            <a:avLst/>
            <a:gdLst/>
            <a:ahLst/>
            <a:cxnLst/>
            <a:rect r="r" b="b" t="t" l="l"/>
            <a:pathLst>
              <a:path h="1656766" w="2486704">
                <a:moveTo>
                  <a:pt x="0" y="0"/>
                </a:moveTo>
                <a:lnTo>
                  <a:pt x="2486704" y="0"/>
                </a:lnTo>
                <a:lnTo>
                  <a:pt x="2486704" y="1656766"/>
                </a:lnTo>
                <a:lnTo>
                  <a:pt x="0" y="165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900648" y="7076381"/>
            <a:ext cx="2396772" cy="1453981"/>
          </a:xfrm>
          <a:custGeom>
            <a:avLst/>
            <a:gdLst/>
            <a:ahLst/>
            <a:cxnLst/>
            <a:rect r="r" b="b" t="t" l="l"/>
            <a:pathLst>
              <a:path h="1453981" w="2396772">
                <a:moveTo>
                  <a:pt x="0" y="0"/>
                </a:moveTo>
                <a:lnTo>
                  <a:pt x="2396772" y="0"/>
                </a:lnTo>
                <a:lnTo>
                  <a:pt x="2396772" y="1453981"/>
                </a:lnTo>
                <a:lnTo>
                  <a:pt x="0" y="14539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330" t="0" r="-833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379963" y="4683318"/>
            <a:ext cx="3301864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Automatiza tareas manuales y repetitivas, agilizando todo el proceso de mantenimiento desde la solicitud hasta la salida.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79963" y="6778535"/>
            <a:ext cx="3045817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Genera reportes funcionales y exportables, compatibles con herramientas como Excel para un análisis efectivo.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5560" y="9220200"/>
            <a:ext cx="122754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Texto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75560" y="9220200"/>
            <a:ext cx="122754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Texto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44689" y="4376481"/>
            <a:ext cx="3301864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Garantiza seguridad y trazabilidad mediante el registro de cada paso en una fuente única de verdad.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73670" y="6979459"/>
            <a:ext cx="3301864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Optimiza la eficiencia operativa, reduciendo tiempos de espera y mejorando la asignación de recursos.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26102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416472"/>
            <a:ext cx="18288000" cy="870528"/>
          </a:xfrm>
          <a:custGeom>
            <a:avLst/>
            <a:gdLst/>
            <a:ahLst/>
            <a:cxnLst/>
            <a:rect r="r" b="b" t="t" l="l"/>
            <a:pathLst>
              <a:path h="870528" w="18288000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00794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4514" y="2935178"/>
            <a:ext cx="16438973" cy="6481294"/>
          </a:xfrm>
          <a:custGeom>
            <a:avLst/>
            <a:gdLst/>
            <a:ahLst/>
            <a:cxnLst/>
            <a:rect r="r" b="b" t="t" l="l"/>
            <a:pathLst>
              <a:path h="6481294" w="16438973">
                <a:moveTo>
                  <a:pt x="0" y="0"/>
                </a:moveTo>
                <a:lnTo>
                  <a:pt x="16438972" y="0"/>
                </a:lnTo>
                <a:lnTo>
                  <a:pt x="16438972" y="6481294"/>
                </a:lnTo>
                <a:lnTo>
                  <a:pt x="0" y="64812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263" r="0" b="-326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39547" y="1437684"/>
            <a:ext cx="14579813" cy="167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PLANIFICACIÓN Y METODOLOGÍA: ROADMAP DE DESARROLLO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682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2" y="1658599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6395" y="599186"/>
            <a:ext cx="13475816" cy="167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AVANCE DEL PROYECTO: DISEÑO TÉCNICO COMPLETADO A TIEMPO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29739"/>
            <a:ext cx="120222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comparación clara entre avance esperado y real confirma cumplimiento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33383" y="2858389"/>
            <a:ext cx="13021235" cy="915421"/>
            <a:chOff x="0" y="0"/>
            <a:chExt cx="3881154" cy="2728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81155" cy="272854"/>
            </a:xfrm>
            <a:custGeom>
              <a:avLst/>
              <a:gdLst/>
              <a:ahLst/>
              <a:cxnLst/>
              <a:rect r="r" b="b" t="t" l="l"/>
              <a:pathLst>
                <a:path h="272854" w="3881155">
                  <a:moveTo>
                    <a:pt x="13080" y="0"/>
                  </a:moveTo>
                  <a:lnTo>
                    <a:pt x="3868074" y="0"/>
                  </a:lnTo>
                  <a:cubicBezTo>
                    <a:pt x="3871544" y="0"/>
                    <a:pt x="3874870" y="1378"/>
                    <a:pt x="3877323" y="3831"/>
                  </a:cubicBezTo>
                  <a:cubicBezTo>
                    <a:pt x="3879776" y="6284"/>
                    <a:pt x="3881155" y="9611"/>
                    <a:pt x="3881155" y="13080"/>
                  </a:cubicBezTo>
                  <a:lnTo>
                    <a:pt x="3881155" y="259773"/>
                  </a:lnTo>
                  <a:cubicBezTo>
                    <a:pt x="3881155" y="266997"/>
                    <a:pt x="3875298" y="272854"/>
                    <a:pt x="3868074" y="272854"/>
                  </a:cubicBezTo>
                  <a:lnTo>
                    <a:pt x="13080" y="272854"/>
                  </a:lnTo>
                  <a:cubicBezTo>
                    <a:pt x="9611" y="272854"/>
                    <a:pt x="6284" y="271476"/>
                    <a:pt x="3831" y="269023"/>
                  </a:cubicBezTo>
                  <a:cubicBezTo>
                    <a:pt x="1378" y="266569"/>
                    <a:pt x="0" y="263242"/>
                    <a:pt x="0" y="259773"/>
                  </a:cubicBezTo>
                  <a:lnTo>
                    <a:pt x="0" y="13080"/>
                  </a:lnTo>
                  <a:cubicBezTo>
                    <a:pt x="0" y="9611"/>
                    <a:pt x="1378" y="6284"/>
                    <a:pt x="3831" y="3831"/>
                  </a:cubicBezTo>
                  <a:cubicBezTo>
                    <a:pt x="6284" y="1378"/>
                    <a:pt x="9611" y="0"/>
                    <a:pt x="1308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81154" cy="310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90152" y="3058925"/>
            <a:ext cx="1270769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Avance Esperado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633383" y="5724525"/>
            <a:ext cx="13021235" cy="915421"/>
            <a:chOff x="0" y="0"/>
            <a:chExt cx="3881154" cy="2728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1155" cy="272854"/>
            </a:xfrm>
            <a:custGeom>
              <a:avLst/>
              <a:gdLst/>
              <a:ahLst/>
              <a:cxnLst/>
              <a:rect r="r" b="b" t="t" l="l"/>
              <a:pathLst>
                <a:path h="272854" w="3881155">
                  <a:moveTo>
                    <a:pt x="13080" y="0"/>
                  </a:moveTo>
                  <a:lnTo>
                    <a:pt x="3868074" y="0"/>
                  </a:lnTo>
                  <a:cubicBezTo>
                    <a:pt x="3871544" y="0"/>
                    <a:pt x="3874870" y="1378"/>
                    <a:pt x="3877323" y="3831"/>
                  </a:cubicBezTo>
                  <a:cubicBezTo>
                    <a:pt x="3879776" y="6284"/>
                    <a:pt x="3881155" y="9611"/>
                    <a:pt x="3881155" y="13080"/>
                  </a:cubicBezTo>
                  <a:lnTo>
                    <a:pt x="3881155" y="259773"/>
                  </a:lnTo>
                  <a:cubicBezTo>
                    <a:pt x="3881155" y="266997"/>
                    <a:pt x="3875298" y="272854"/>
                    <a:pt x="3868074" y="272854"/>
                  </a:cubicBezTo>
                  <a:lnTo>
                    <a:pt x="13080" y="272854"/>
                  </a:lnTo>
                  <a:cubicBezTo>
                    <a:pt x="9611" y="272854"/>
                    <a:pt x="6284" y="271476"/>
                    <a:pt x="3831" y="269023"/>
                  </a:cubicBezTo>
                  <a:cubicBezTo>
                    <a:pt x="1378" y="266569"/>
                    <a:pt x="0" y="263242"/>
                    <a:pt x="0" y="259773"/>
                  </a:cubicBezTo>
                  <a:lnTo>
                    <a:pt x="0" y="13080"/>
                  </a:lnTo>
                  <a:cubicBezTo>
                    <a:pt x="0" y="9611"/>
                    <a:pt x="1378" y="6284"/>
                    <a:pt x="3831" y="3831"/>
                  </a:cubicBezTo>
                  <a:cubicBezTo>
                    <a:pt x="6284" y="1378"/>
                    <a:pt x="9611" y="0"/>
                    <a:pt x="1308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881154" cy="310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946921" y="5974596"/>
            <a:ext cx="1273587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Avance Real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09628" y="4102167"/>
            <a:ext cx="511589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Fase de desarrollo (Sprint 2)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0891" y="3964310"/>
            <a:ext cx="511589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Comenzar implementación de Módulo de Usuarios y OTs.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33383" y="7489582"/>
            <a:ext cx="3681737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100% de la fase de re-planificación y diseño completada (ERS, UML, E-R, Mockups), y Sprint 1.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39800" y="7420996"/>
            <a:ext cx="3845956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La ampliación del alcance fue abordada y resuelta formalmente antes de escribir código, reduciendo riesgos futuros.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85831" y="7489582"/>
            <a:ext cx="4012017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Proyecto listo para iniciar la fase de desarrollo con un plan claro y validado.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56055"/>
            <a:ext cx="10650259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110530"/>
            <a:ext cx="15530602" cy="8176470"/>
            <a:chOff x="0" y="0"/>
            <a:chExt cx="20707469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707469" cy="10901961"/>
              <a:chOff x="0" y="0"/>
              <a:chExt cx="3704545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04545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3704545">
                    <a:moveTo>
                      <a:pt x="17384" y="0"/>
                    </a:moveTo>
                    <a:lnTo>
                      <a:pt x="3687161" y="0"/>
                    </a:lnTo>
                    <a:cubicBezTo>
                      <a:pt x="3691772" y="0"/>
                      <a:pt x="3696193" y="1831"/>
                      <a:pt x="3699454" y="5092"/>
                    </a:cubicBezTo>
                    <a:cubicBezTo>
                      <a:pt x="3702714" y="8352"/>
                      <a:pt x="3704545" y="12773"/>
                      <a:pt x="3704545" y="17384"/>
                    </a:cubicBezTo>
                    <a:lnTo>
                      <a:pt x="3704545" y="1932966"/>
                    </a:lnTo>
                    <a:cubicBezTo>
                      <a:pt x="3704545" y="1937576"/>
                      <a:pt x="3702714" y="1941998"/>
                      <a:pt x="3699454" y="1945258"/>
                    </a:cubicBezTo>
                    <a:cubicBezTo>
                      <a:pt x="3696193" y="1948518"/>
                      <a:pt x="3691772" y="1950350"/>
                      <a:pt x="3687161" y="1950350"/>
                    </a:cubicBezTo>
                    <a:lnTo>
                      <a:pt x="17384" y="1950350"/>
                    </a:lnTo>
                    <a:cubicBezTo>
                      <a:pt x="12773" y="1950350"/>
                      <a:pt x="8352" y="1948518"/>
                      <a:pt x="5092" y="1945258"/>
                    </a:cubicBezTo>
                    <a:cubicBezTo>
                      <a:pt x="1831" y="1941998"/>
                      <a:pt x="0" y="1937576"/>
                      <a:pt x="0" y="1932966"/>
                    </a:cubicBezTo>
                    <a:lnTo>
                      <a:pt x="0" y="17384"/>
                    </a:lnTo>
                    <a:cubicBezTo>
                      <a:pt x="0" y="12773"/>
                      <a:pt x="1831" y="8352"/>
                      <a:pt x="5092" y="5092"/>
                    </a:cubicBezTo>
                    <a:cubicBezTo>
                      <a:pt x="8352" y="1831"/>
                      <a:pt x="12773" y="0"/>
                      <a:pt x="17384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704545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0260505" cy="10721551"/>
              <a:chOff x="0" y="0"/>
              <a:chExt cx="3624584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24584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3624584">
                    <a:moveTo>
                      <a:pt x="16287" y="0"/>
                    </a:moveTo>
                    <a:lnTo>
                      <a:pt x="3608297" y="0"/>
                    </a:lnTo>
                    <a:cubicBezTo>
                      <a:pt x="3612617" y="0"/>
                      <a:pt x="3616759" y="1716"/>
                      <a:pt x="3619814" y="4770"/>
                    </a:cubicBezTo>
                    <a:cubicBezTo>
                      <a:pt x="3622868" y="7825"/>
                      <a:pt x="3624584" y="11967"/>
                      <a:pt x="3624584" y="16287"/>
                    </a:cubicBezTo>
                    <a:lnTo>
                      <a:pt x="3624584" y="1901788"/>
                    </a:lnTo>
                    <a:cubicBezTo>
                      <a:pt x="3624584" y="1906107"/>
                      <a:pt x="3622868" y="1910250"/>
                      <a:pt x="3619814" y="1913304"/>
                    </a:cubicBezTo>
                    <a:cubicBezTo>
                      <a:pt x="3616759" y="1916359"/>
                      <a:pt x="3612617" y="1918075"/>
                      <a:pt x="3608297" y="1918075"/>
                    </a:cubicBezTo>
                    <a:lnTo>
                      <a:pt x="16287" y="1918075"/>
                    </a:lnTo>
                    <a:cubicBezTo>
                      <a:pt x="11967" y="1918075"/>
                      <a:pt x="7825" y="1916359"/>
                      <a:pt x="4770" y="1913304"/>
                    </a:cubicBezTo>
                    <a:cubicBezTo>
                      <a:pt x="1716" y="1910250"/>
                      <a:pt x="0" y="1906107"/>
                      <a:pt x="0" y="1901788"/>
                    </a:cubicBezTo>
                    <a:lnTo>
                      <a:pt x="0" y="16287"/>
                    </a:lnTo>
                    <a:cubicBezTo>
                      <a:pt x="0" y="11967"/>
                      <a:pt x="1716" y="7825"/>
                      <a:pt x="4770" y="4770"/>
                    </a:cubicBezTo>
                    <a:cubicBezTo>
                      <a:pt x="7825" y="1716"/>
                      <a:pt x="11967" y="0"/>
                      <a:pt x="16287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624584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5609802" y="6996811"/>
            <a:ext cx="2830322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SEGUROS PARA AUTOS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127160" y="2272233"/>
            <a:ext cx="13174570" cy="7886614"/>
          </a:xfrm>
          <a:custGeom>
            <a:avLst/>
            <a:gdLst/>
            <a:ahLst/>
            <a:cxnLst/>
            <a:rect r="r" b="b" t="t" l="l"/>
            <a:pathLst>
              <a:path h="7886614" w="13174570">
                <a:moveTo>
                  <a:pt x="0" y="0"/>
                </a:moveTo>
                <a:lnTo>
                  <a:pt x="13174570" y="0"/>
                </a:lnTo>
                <a:lnTo>
                  <a:pt x="13174570" y="7886614"/>
                </a:lnTo>
                <a:lnTo>
                  <a:pt x="0" y="788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3" r="-106" b="-1298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56055"/>
            <a:ext cx="10650259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110530"/>
            <a:ext cx="15530602" cy="8176470"/>
            <a:chOff x="0" y="0"/>
            <a:chExt cx="20707469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707469" cy="10901961"/>
              <a:chOff x="0" y="0"/>
              <a:chExt cx="3704545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04545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3704545">
                    <a:moveTo>
                      <a:pt x="17384" y="0"/>
                    </a:moveTo>
                    <a:lnTo>
                      <a:pt x="3687161" y="0"/>
                    </a:lnTo>
                    <a:cubicBezTo>
                      <a:pt x="3691772" y="0"/>
                      <a:pt x="3696193" y="1831"/>
                      <a:pt x="3699454" y="5092"/>
                    </a:cubicBezTo>
                    <a:cubicBezTo>
                      <a:pt x="3702714" y="8352"/>
                      <a:pt x="3704545" y="12773"/>
                      <a:pt x="3704545" y="17384"/>
                    </a:cubicBezTo>
                    <a:lnTo>
                      <a:pt x="3704545" y="1932966"/>
                    </a:lnTo>
                    <a:cubicBezTo>
                      <a:pt x="3704545" y="1937576"/>
                      <a:pt x="3702714" y="1941998"/>
                      <a:pt x="3699454" y="1945258"/>
                    </a:cubicBezTo>
                    <a:cubicBezTo>
                      <a:pt x="3696193" y="1948518"/>
                      <a:pt x="3691772" y="1950350"/>
                      <a:pt x="3687161" y="1950350"/>
                    </a:cubicBezTo>
                    <a:lnTo>
                      <a:pt x="17384" y="1950350"/>
                    </a:lnTo>
                    <a:cubicBezTo>
                      <a:pt x="12773" y="1950350"/>
                      <a:pt x="8352" y="1948518"/>
                      <a:pt x="5092" y="1945258"/>
                    </a:cubicBezTo>
                    <a:cubicBezTo>
                      <a:pt x="1831" y="1941998"/>
                      <a:pt x="0" y="1937576"/>
                      <a:pt x="0" y="1932966"/>
                    </a:cubicBezTo>
                    <a:lnTo>
                      <a:pt x="0" y="17384"/>
                    </a:lnTo>
                    <a:cubicBezTo>
                      <a:pt x="0" y="12773"/>
                      <a:pt x="1831" y="8352"/>
                      <a:pt x="5092" y="5092"/>
                    </a:cubicBezTo>
                    <a:cubicBezTo>
                      <a:pt x="8352" y="1831"/>
                      <a:pt x="12773" y="0"/>
                      <a:pt x="17384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704545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0260505" cy="10721551"/>
              <a:chOff x="0" y="0"/>
              <a:chExt cx="3624584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24584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3624584">
                    <a:moveTo>
                      <a:pt x="16287" y="0"/>
                    </a:moveTo>
                    <a:lnTo>
                      <a:pt x="3608297" y="0"/>
                    </a:lnTo>
                    <a:cubicBezTo>
                      <a:pt x="3612617" y="0"/>
                      <a:pt x="3616759" y="1716"/>
                      <a:pt x="3619814" y="4770"/>
                    </a:cubicBezTo>
                    <a:cubicBezTo>
                      <a:pt x="3622868" y="7825"/>
                      <a:pt x="3624584" y="11967"/>
                      <a:pt x="3624584" y="16287"/>
                    </a:cubicBezTo>
                    <a:lnTo>
                      <a:pt x="3624584" y="1901788"/>
                    </a:lnTo>
                    <a:cubicBezTo>
                      <a:pt x="3624584" y="1906107"/>
                      <a:pt x="3622868" y="1910250"/>
                      <a:pt x="3619814" y="1913304"/>
                    </a:cubicBezTo>
                    <a:cubicBezTo>
                      <a:pt x="3616759" y="1916359"/>
                      <a:pt x="3612617" y="1918075"/>
                      <a:pt x="3608297" y="1918075"/>
                    </a:cubicBezTo>
                    <a:lnTo>
                      <a:pt x="16287" y="1918075"/>
                    </a:lnTo>
                    <a:cubicBezTo>
                      <a:pt x="11967" y="1918075"/>
                      <a:pt x="7825" y="1916359"/>
                      <a:pt x="4770" y="1913304"/>
                    </a:cubicBezTo>
                    <a:cubicBezTo>
                      <a:pt x="1716" y="1910250"/>
                      <a:pt x="0" y="1906107"/>
                      <a:pt x="0" y="1901788"/>
                    </a:cubicBezTo>
                    <a:lnTo>
                      <a:pt x="0" y="16287"/>
                    </a:lnTo>
                    <a:cubicBezTo>
                      <a:pt x="0" y="11967"/>
                      <a:pt x="1716" y="7825"/>
                      <a:pt x="4770" y="4770"/>
                    </a:cubicBezTo>
                    <a:cubicBezTo>
                      <a:pt x="7825" y="1716"/>
                      <a:pt x="11967" y="0"/>
                      <a:pt x="16287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624584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3440846" y="2981171"/>
            <a:ext cx="10706309" cy="6911796"/>
          </a:xfrm>
          <a:custGeom>
            <a:avLst/>
            <a:gdLst/>
            <a:ahLst/>
            <a:cxnLst/>
            <a:rect r="r" b="b" t="t" l="l"/>
            <a:pathLst>
              <a:path h="6911796" w="10706309">
                <a:moveTo>
                  <a:pt x="0" y="0"/>
                </a:moveTo>
                <a:lnTo>
                  <a:pt x="10706309" y="0"/>
                </a:lnTo>
                <a:lnTo>
                  <a:pt x="10706309" y="6911796"/>
                </a:lnTo>
                <a:lnTo>
                  <a:pt x="0" y="691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89" r="0" b="-6489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701669" y="2196033"/>
            <a:ext cx="4789139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DIAGRAMA DE ARQUITECTURA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56055"/>
            <a:ext cx="10650259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110530"/>
            <a:ext cx="15530602" cy="8176470"/>
            <a:chOff x="0" y="0"/>
            <a:chExt cx="20707469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707469" cy="10901961"/>
              <a:chOff x="0" y="0"/>
              <a:chExt cx="3704545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04545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3704545">
                    <a:moveTo>
                      <a:pt x="17384" y="0"/>
                    </a:moveTo>
                    <a:lnTo>
                      <a:pt x="3687161" y="0"/>
                    </a:lnTo>
                    <a:cubicBezTo>
                      <a:pt x="3691772" y="0"/>
                      <a:pt x="3696193" y="1831"/>
                      <a:pt x="3699454" y="5092"/>
                    </a:cubicBezTo>
                    <a:cubicBezTo>
                      <a:pt x="3702714" y="8352"/>
                      <a:pt x="3704545" y="12773"/>
                      <a:pt x="3704545" y="17384"/>
                    </a:cubicBezTo>
                    <a:lnTo>
                      <a:pt x="3704545" y="1932966"/>
                    </a:lnTo>
                    <a:cubicBezTo>
                      <a:pt x="3704545" y="1937576"/>
                      <a:pt x="3702714" y="1941998"/>
                      <a:pt x="3699454" y="1945258"/>
                    </a:cubicBezTo>
                    <a:cubicBezTo>
                      <a:pt x="3696193" y="1948518"/>
                      <a:pt x="3691772" y="1950350"/>
                      <a:pt x="3687161" y="1950350"/>
                    </a:cubicBezTo>
                    <a:lnTo>
                      <a:pt x="17384" y="1950350"/>
                    </a:lnTo>
                    <a:cubicBezTo>
                      <a:pt x="12773" y="1950350"/>
                      <a:pt x="8352" y="1948518"/>
                      <a:pt x="5092" y="1945258"/>
                    </a:cubicBezTo>
                    <a:cubicBezTo>
                      <a:pt x="1831" y="1941998"/>
                      <a:pt x="0" y="1937576"/>
                      <a:pt x="0" y="1932966"/>
                    </a:cubicBezTo>
                    <a:lnTo>
                      <a:pt x="0" y="17384"/>
                    </a:lnTo>
                    <a:cubicBezTo>
                      <a:pt x="0" y="12773"/>
                      <a:pt x="1831" y="8352"/>
                      <a:pt x="5092" y="5092"/>
                    </a:cubicBezTo>
                    <a:cubicBezTo>
                      <a:pt x="8352" y="1831"/>
                      <a:pt x="12773" y="0"/>
                      <a:pt x="17384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704545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0260505" cy="10721551"/>
              <a:chOff x="0" y="0"/>
              <a:chExt cx="3624584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24584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3624584">
                    <a:moveTo>
                      <a:pt x="16287" y="0"/>
                    </a:moveTo>
                    <a:lnTo>
                      <a:pt x="3608297" y="0"/>
                    </a:lnTo>
                    <a:cubicBezTo>
                      <a:pt x="3612617" y="0"/>
                      <a:pt x="3616759" y="1716"/>
                      <a:pt x="3619814" y="4770"/>
                    </a:cubicBezTo>
                    <a:cubicBezTo>
                      <a:pt x="3622868" y="7825"/>
                      <a:pt x="3624584" y="11967"/>
                      <a:pt x="3624584" y="16287"/>
                    </a:cubicBezTo>
                    <a:lnTo>
                      <a:pt x="3624584" y="1901788"/>
                    </a:lnTo>
                    <a:cubicBezTo>
                      <a:pt x="3624584" y="1906107"/>
                      <a:pt x="3622868" y="1910250"/>
                      <a:pt x="3619814" y="1913304"/>
                    </a:cubicBezTo>
                    <a:cubicBezTo>
                      <a:pt x="3616759" y="1916359"/>
                      <a:pt x="3612617" y="1918075"/>
                      <a:pt x="3608297" y="1918075"/>
                    </a:cubicBezTo>
                    <a:lnTo>
                      <a:pt x="16287" y="1918075"/>
                    </a:lnTo>
                    <a:cubicBezTo>
                      <a:pt x="11967" y="1918075"/>
                      <a:pt x="7825" y="1916359"/>
                      <a:pt x="4770" y="1913304"/>
                    </a:cubicBezTo>
                    <a:cubicBezTo>
                      <a:pt x="1716" y="1910250"/>
                      <a:pt x="0" y="1906107"/>
                      <a:pt x="0" y="1901788"/>
                    </a:cubicBezTo>
                    <a:lnTo>
                      <a:pt x="0" y="16287"/>
                    </a:lnTo>
                    <a:cubicBezTo>
                      <a:pt x="0" y="11967"/>
                      <a:pt x="1716" y="7825"/>
                      <a:pt x="4770" y="4770"/>
                    </a:cubicBezTo>
                    <a:cubicBezTo>
                      <a:pt x="7825" y="1716"/>
                      <a:pt x="11967" y="0"/>
                      <a:pt x="16287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624584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312958" y="2586558"/>
            <a:ext cx="7371270" cy="7357449"/>
          </a:xfrm>
          <a:custGeom>
            <a:avLst/>
            <a:gdLst/>
            <a:ahLst/>
            <a:cxnLst/>
            <a:rect r="r" b="b" t="t" l="l"/>
            <a:pathLst>
              <a:path h="7357449" w="7371270">
                <a:moveTo>
                  <a:pt x="0" y="0"/>
                </a:moveTo>
                <a:lnTo>
                  <a:pt x="7371270" y="0"/>
                </a:lnTo>
                <a:lnTo>
                  <a:pt x="7371270" y="7357449"/>
                </a:lnTo>
                <a:lnTo>
                  <a:pt x="0" y="7357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015066" y="2624736"/>
            <a:ext cx="6747427" cy="7319270"/>
          </a:xfrm>
          <a:custGeom>
            <a:avLst/>
            <a:gdLst/>
            <a:ahLst/>
            <a:cxnLst/>
            <a:rect r="r" b="b" t="t" l="l"/>
            <a:pathLst>
              <a:path h="7319270" w="6747427">
                <a:moveTo>
                  <a:pt x="0" y="0"/>
                </a:moveTo>
                <a:lnTo>
                  <a:pt x="6747426" y="0"/>
                </a:lnTo>
                <a:lnTo>
                  <a:pt x="6747426" y="7319271"/>
                </a:lnTo>
                <a:lnTo>
                  <a:pt x="0" y="7319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168" t="0" r="-5168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25689" y="2114513"/>
            <a:ext cx="4789139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RF-001, RF-002, RF-003, RF-004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408751" y="2114513"/>
            <a:ext cx="4789139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RF-001, RF-002, RF-003, RF-004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56055"/>
            <a:ext cx="10650259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110530"/>
            <a:ext cx="15530602" cy="8176470"/>
            <a:chOff x="0" y="0"/>
            <a:chExt cx="20707469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707469" cy="10901961"/>
              <a:chOff x="0" y="0"/>
              <a:chExt cx="3704545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04545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3704545">
                    <a:moveTo>
                      <a:pt x="17384" y="0"/>
                    </a:moveTo>
                    <a:lnTo>
                      <a:pt x="3687161" y="0"/>
                    </a:lnTo>
                    <a:cubicBezTo>
                      <a:pt x="3691772" y="0"/>
                      <a:pt x="3696193" y="1831"/>
                      <a:pt x="3699454" y="5092"/>
                    </a:cubicBezTo>
                    <a:cubicBezTo>
                      <a:pt x="3702714" y="8352"/>
                      <a:pt x="3704545" y="12773"/>
                      <a:pt x="3704545" y="17384"/>
                    </a:cubicBezTo>
                    <a:lnTo>
                      <a:pt x="3704545" y="1932966"/>
                    </a:lnTo>
                    <a:cubicBezTo>
                      <a:pt x="3704545" y="1937576"/>
                      <a:pt x="3702714" y="1941998"/>
                      <a:pt x="3699454" y="1945258"/>
                    </a:cubicBezTo>
                    <a:cubicBezTo>
                      <a:pt x="3696193" y="1948518"/>
                      <a:pt x="3691772" y="1950350"/>
                      <a:pt x="3687161" y="1950350"/>
                    </a:cubicBezTo>
                    <a:lnTo>
                      <a:pt x="17384" y="1950350"/>
                    </a:lnTo>
                    <a:cubicBezTo>
                      <a:pt x="12773" y="1950350"/>
                      <a:pt x="8352" y="1948518"/>
                      <a:pt x="5092" y="1945258"/>
                    </a:cubicBezTo>
                    <a:cubicBezTo>
                      <a:pt x="1831" y="1941998"/>
                      <a:pt x="0" y="1937576"/>
                      <a:pt x="0" y="1932966"/>
                    </a:cubicBezTo>
                    <a:lnTo>
                      <a:pt x="0" y="17384"/>
                    </a:lnTo>
                    <a:cubicBezTo>
                      <a:pt x="0" y="12773"/>
                      <a:pt x="1831" y="8352"/>
                      <a:pt x="5092" y="5092"/>
                    </a:cubicBezTo>
                    <a:cubicBezTo>
                      <a:pt x="8352" y="1831"/>
                      <a:pt x="12773" y="0"/>
                      <a:pt x="17384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704545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0260505" cy="10721551"/>
              <a:chOff x="0" y="0"/>
              <a:chExt cx="3624584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24584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3624584">
                    <a:moveTo>
                      <a:pt x="16287" y="0"/>
                    </a:moveTo>
                    <a:lnTo>
                      <a:pt x="3608297" y="0"/>
                    </a:lnTo>
                    <a:cubicBezTo>
                      <a:pt x="3612617" y="0"/>
                      <a:pt x="3616759" y="1716"/>
                      <a:pt x="3619814" y="4770"/>
                    </a:cubicBezTo>
                    <a:cubicBezTo>
                      <a:pt x="3622868" y="7825"/>
                      <a:pt x="3624584" y="11967"/>
                      <a:pt x="3624584" y="16287"/>
                    </a:cubicBezTo>
                    <a:lnTo>
                      <a:pt x="3624584" y="1901788"/>
                    </a:lnTo>
                    <a:cubicBezTo>
                      <a:pt x="3624584" y="1906107"/>
                      <a:pt x="3622868" y="1910250"/>
                      <a:pt x="3619814" y="1913304"/>
                    </a:cubicBezTo>
                    <a:cubicBezTo>
                      <a:pt x="3616759" y="1916359"/>
                      <a:pt x="3612617" y="1918075"/>
                      <a:pt x="3608297" y="1918075"/>
                    </a:cubicBezTo>
                    <a:lnTo>
                      <a:pt x="16287" y="1918075"/>
                    </a:lnTo>
                    <a:cubicBezTo>
                      <a:pt x="11967" y="1918075"/>
                      <a:pt x="7825" y="1916359"/>
                      <a:pt x="4770" y="1913304"/>
                    </a:cubicBezTo>
                    <a:cubicBezTo>
                      <a:pt x="1716" y="1910250"/>
                      <a:pt x="0" y="1906107"/>
                      <a:pt x="0" y="1901788"/>
                    </a:cubicBezTo>
                    <a:lnTo>
                      <a:pt x="0" y="16287"/>
                    </a:lnTo>
                    <a:cubicBezTo>
                      <a:pt x="0" y="11967"/>
                      <a:pt x="1716" y="7825"/>
                      <a:pt x="4770" y="4770"/>
                    </a:cubicBezTo>
                    <a:cubicBezTo>
                      <a:pt x="7825" y="1716"/>
                      <a:pt x="11967" y="0"/>
                      <a:pt x="16287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624584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3405923" y="2662871"/>
            <a:ext cx="10776155" cy="7344396"/>
          </a:xfrm>
          <a:custGeom>
            <a:avLst/>
            <a:gdLst/>
            <a:ahLst/>
            <a:cxnLst/>
            <a:rect r="r" b="b" t="t" l="l"/>
            <a:pathLst>
              <a:path h="7344396" w="10776155">
                <a:moveTo>
                  <a:pt x="0" y="0"/>
                </a:moveTo>
                <a:lnTo>
                  <a:pt x="10776155" y="0"/>
                </a:lnTo>
                <a:lnTo>
                  <a:pt x="10776155" y="7344396"/>
                </a:lnTo>
                <a:lnTo>
                  <a:pt x="0" y="7344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80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310374" y="2196033"/>
            <a:ext cx="4789139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DIAGRAMA DE COMPONENTES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56055"/>
            <a:ext cx="10650259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110530"/>
            <a:ext cx="15530602" cy="8176470"/>
            <a:chOff x="0" y="0"/>
            <a:chExt cx="20707469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707469" cy="10901961"/>
              <a:chOff x="0" y="0"/>
              <a:chExt cx="3704545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04545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3704545">
                    <a:moveTo>
                      <a:pt x="17384" y="0"/>
                    </a:moveTo>
                    <a:lnTo>
                      <a:pt x="3687161" y="0"/>
                    </a:lnTo>
                    <a:cubicBezTo>
                      <a:pt x="3691772" y="0"/>
                      <a:pt x="3696193" y="1831"/>
                      <a:pt x="3699454" y="5092"/>
                    </a:cubicBezTo>
                    <a:cubicBezTo>
                      <a:pt x="3702714" y="8352"/>
                      <a:pt x="3704545" y="12773"/>
                      <a:pt x="3704545" y="17384"/>
                    </a:cubicBezTo>
                    <a:lnTo>
                      <a:pt x="3704545" y="1932966"/>
                    </a:lnTo>
                    <a:cubicBezTo>
                      <a:pt x="3704545" y="1937576"/>
                      <a:pt x="3702714" y="1941998"/>
                      <a:pt x="3699454" y="1945258"/>
                    </a:cubicBezTo>
                    <a:cubicBezTo>
                      <a:pt x="3696193" y="1948518"/>
                      <a:pt x="3691772" y="1950350"/>
                      <a:pt x="3687161" y="1950350"/>
                    </a:cubicBezTo>
                    <a:lnTo>
                      <a:pt x="17384" y="1950350"/>
                    </a:lnTo>
                    <a:cubicBezTo>
                      <a:pt x="12773" y="1950350"/>
                      <a:pt x="8352" y="1948518"/>
                      <a:pt x="5092" y="1945258"/>
                    </a:cubicBezTo>
                    <a:cubicBezTo>
                      <a:pt x="1831" y="1941998"/>
                      <a:pt x="0" y="1937576"/>
                      <a:pt x="0" y="1932966"/>
                    </a:cubicBezTo>
                    <a:lnTo>
                      <a:pt x="0" y="17384"/>
                    </a:lnTo>
                    <a:cubicBezTo>
                      <a:pt x="0" y="12773"/>
                      <a:pt x="1831" y="8352"/>
                      <a:pt x="5092" y="5092"/>
                    </a:cubicBezTo>
                    <a:cubicBezTo>
                      <a:pt x="8352" y="1831"/>
                      <a:pt x="12773" y="0"/>
                      <a:pt x="17384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704545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0260505" cy="10721551"/>
              <a:chOff x="0" y="0"/>
              <a:chExt cx="3624584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24584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3624584">
                    <a:moveTo>
                      <a:pt x="16287" y="0"/>
                    </a:moveTo>
                    <a:lnTo>
                      <a:pt x="3608297" y="0"/>
                    </a:lnTo>
                    <a:cubicBezTo>
                      <a:pt x="3612617" y="0"/>
                      <a:pt x="3616759" y="1716"/>
                      <a:pt x="3619814" y="4770"/>
                    </a:cubicBezTo>
                    <a:cubicBezTo>
                      <a:pt x="3622868" y="7825"/>
                      <a:pt x="3624584" y="11967"/>
                      <a:pt x="3624584" y="16287"/>
                    </a:cubicBezTo>
                    <a:lnTo>
                      <a:pt x="3624584" y="1901788"/>
                    </a:lnTo>
                    <a:cubicBezTo>
                      <a:pt x="3624584" y="1906107"/>
                      <a:pt x="3622868" y="1910250"/>
                      <a:pt x="3619814" y="1913304"/>
                    </a:cubicBezTo>
                    <a:cubicBezTo>
                      <a:pt x="3616759" y="1916359"/>
                      <a:pt x="3612617" y="1918075"/>
                      <a:pt x="3608297" y="1918075"/>
                    </a:cubicBezTo>
                    <a:lnTo>
                      <a:pt x="16287" y="1918075"/>
                    </a:lnTo>
                    <a:cubicBezTo>
                      <a:pt x="11967" y="1918075"/>
                      <a:pt x="7825" y="1916359"/>
                      <a:pt x="4770" y="1913304"/>
                    </a:cubicBezTo>
                    <a:cubicBezTo>
                      <a:pt x="1716" y="1910250"/>
                      <a:pt x="0" y="1906107"/>
                      <a:pt x="0" y="1901788"/>
                    </a:cubicBezTo>
                    <a:lnTo>
                      <a:pt x="0" y="16287"/>
                    </a:lnTo>
                    <a:cubicBezTo>
                      <a:pt x="0" y="11967"/>
                      <a:pt x="1716" y="7825"/>
                      <a:pt x="4770" y="4770"/>
                    </a:cubicBezTo>
                    <a:cubicBezTo>
                      <a:pt x="7825" y="1716"/>
                      <a:pt x="11967" y="0"/>
                      <a:pt x="16287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624584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2270707" y="2845937"/>
            <a:ext cx="13746586" cy="6753691"/>
          </a:xfrm>
          <a:custGeom>
            <a:avLst/>
            <a:gdLst/>
            <a:ahLst/>
            <a:cxnLst/>
            <a:rect r="r" b="b" t="t" l="l"/>
            <a:pathLst>
              <a:path h="6753691" w="13746586">
                <a:moveTo>
                  <a:pt x="0" y="0"/>
                </a:moveTo>
                <a:lnTo>
                  <a:pt x="13746586" y="0"/>
                </a:lnTo>
                <a:lnTo>
                  <a:pt x="13746586" y="6753691"/>
                </a:lnTo>
                <a:lnTo>
                  <a:pt x="0" y="6753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" t="-605" r="-53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399431" y="2196033"/>
            <a:ext cx="4789139" cy="39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DIAGRAMA DE CLASES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56055"/>
            <a:ext cx="10650259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2110530"/>
            <a:ext cx="18288000" cy="8176470"/>
            <a:chOff x="0" y="0"/>
            <a:chExt cx="24384000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4384000" cy="10901961"/>
              <a:chOff x="0" y="0"/>
              <a:chExt cx="4362273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362273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4362273">
                    <a:moveTo>
                      <a:pt x="14763" y="0"/>
                    </a:moveTo>
                    <a:lnTo>
                      <a:pt x="4347510" y="0"/>
                    </a:lnTo>
                    <a:cubicBezTo>
                      <a:pt x="4351425" y="0"/>
                      <a:pt x="4355180" y="1555"/>
                      <a:pt x="4357949" y="4324"/>
                    </a:cubicBezTo>
                    <a:cubicBezTo>
                      <a:pt x="4360718" y="7092"/>
                      <a:pt x="4362273" y="10847"/>
                      <a:pt x="4362273" y="14763"/>
                    </a:cubicBezTo>
                    <a:lnTo>
                      <a:pt x="4362273" y="1935587"/>
                    </a:lnTo>
                    <a:cubicBezTo>
                      <a:pt x="4362273" y="1939502"/>
                      <a:pt x="4360718" y="1943257"/>
                      <a:pt x="4357949" y="1946026"/>
                    </a:cubicBezTo>
                    <a:cubicBezTo>
                      <a:pt x="4355180" y="1948794"/>
                      <a:pt x="4351425" y="1950350"/>
                      <a:pt x="4347510" y="1950350"/>
                    </a:cubicBezTo>
                    <a:lnTo>
                      <a:pt x="14763" y="1950350"/>
                    </a:lnTo>
                    <a:cubicBezTo>
                      <a:pt x="10847" y="1950350"/>
                      <a:pt x="7092" y="1948794"/>
                      <a:pt x="4324" y="1946026"/>
                    </a:cubicBezTo>
                    <a:cubicBezTo>
                      <a:pt x="1555" y="1943257"/>
                      <a:pt x="0" y="1939502"/>
                      <a:pt x="0" y="1935587"/>
                    </a:cubicBezTo>
                    <a:lnTo>
                      <a:pt x="0" y="14763"/>
                    </a:lnTo>
                    <a:cubicBezTo>
                      <a:pt x="0" y="10847"/>
                      <a:pt x="1555" y="7092"/>
                      <a:pt x="4324" y="4324"/>
                    </a:cubicBezTo>
                    <a:cubicBezTo>
                      <a:pt x="7092" y="1555"/>
                      <a:pt x="10847" y="0"/>
                      <a:pt x="14763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362273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3857679" cy="10721551"/>
              <a:chOff x="0" y="0"/>
              <a:chExt cx="4268115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68115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4268115">
                    <a:moveTo>
                      <a:pt x="13831" y="0"/>
                    </a:moveTo>
                    <a:lnTo>
                      <a:pt x="4254284" y="0"/>
                    </a:lnTo>
                    <a:cubicBezTo>
                      <a:pt x="4261922" y="0"/>
                      <a:pt x="4268115" y="6192"/>
                      <a:pt x="4268115" y="13831"/>
                    </a:cubicBezTo>
                    <a:lnTo>
                      <a:pt x="4268115" y="1904244"/>
                    </a:lnTo>
                    <a:cubicBezTo>
                      <a:pt x="4268115" y="1911882"/>
                      <a:pt x="4261922" y="1918075"/>
                      <a:pt x="4254284" y="1918075"/>
                    </a:cubicBezTo>
                    <a:lnTo>
                      <a:pt x="13831" y="1918075"/>
                    </a:lnTo>
                    <a:cubicBezTo>
                      <a:pt x="6192" y="1918075"/>
                      <a:pt x="0" y="1911882"/>
                      <a:pt x="0" y="1904244"/>
                    </a:cubicBezTo>
                    <a:lnTo>
                      <a:pt x="0" y="13831"/>
                    </a:lnTo>
                    <a:cubicBezTo>
                      <a:pt x="0" y="6192"/>
                      <a:pt x="6192" y="0"/>
                      <a:pt x="13831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268115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0" y="3032723"/>
            <a:ext cx="17837719" cy="4171365"/>
          </a:xfrm>
          <a:custGeom>
            <a:avLst/>
            <a:gdLst/>
            <a:ahLst/>
            <a:cxnLst/>
            <a:rect r="r" b="b" t="t" l="l"/>
            <a:pathLst>
              <a:path h="4171365" w="17837719">
                <a:moveTo>
                  <a:pt x="0" y="0"/>
                </a:moveTo>
                <a:lnTo>
                  <a:pt x="17837719" y="0"/>
                </a:lnTo>
                <a:lnTo>
                  <a:pt x="17837719" y="4171365"/>
                </a:lnTo>
                <a:lnTo>
                  <a:pt x="0" y="4171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6" t="-574" r="-1948" b="-1272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310374" y="2231473"/>
            <a:ext cx="4789139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BPMN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26102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2510580"/>
            <a:ext cx="15304111" cy="3112300"/>
            <a:chOff x="0" y="0"/>
            <a:chExt cx="20405481" cy="414973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0405481" cy="4149734"/>
              <a:chOff x="0" y="0"/>
              <a:chExt cx="4561596" cy="92766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561596" cy="927663"/>
              </a:xfrm>
              <a:custGeom>
                <a:avLst/>
                <a:gdLst/>
                <a:ahLst/>
                <a:cxnLst/>
                <a:rect r="r" b="b" t="t" l="l"/>
                <a:pathLst>
                  <a:path h="927663" w="4561596">
                    <a:moveTo>
                      <a:pt x="12141" y="0"/>
                    </a:moveTo>
                    <a:lnTo>
                      <a:pt x="4549456" y="0"/>
                    </a:lnTo>
                    <a:cubicBezTo>
                      <a:pt x="4552676" y="0"/>
                      <a:pt x="4555763" y="1279"/>
                      <a:pt x="4558040" y="3556"/>
                    </a:cubicBezTo>
                    <a:cubicBezTo>
                      <a:pt x="4560317" y="5833"/>
                      <a:pt x="4561596" y="8921"/>
                      <a:pt x="4561596" y="12141"/>
                    </a:cubicBezTo>
                    <a:lnTo>
                      <a:pt x="4561596" y="915522"/>
                    </a:lnTo>
                    <a:cubicBezTo>
                      <a:pt x="4561596" y="918742"/>
                      <a:pt x="4560317" y="921830"/>
                      <a:pt x="4558040" y="924107"/>
                    </a:cubicBezTo>
                    <a:cubicBezTo>
                      <a:pt x="4555763" y="926384"/>
                      <a:pt x="4552676" y="927663"/>
                      <a:pt x="4549456" y="927663"/>
                    </a:cubicBezTo>
                    <a:lnTo>
                      <a:pt x="12141" y="927663"/>
                    </a:lnTo>
                    <a:cubicBezTo>
                      <a:pt x="8921" y="927663"/>
                      <a:pt x="5833" y="926384"/>
                      <a:pt x="3556" y="924107"/>
                    </a:cubicBezTo>
                    <a:cubicBezTo>
                      <a:pt x="1279" y="921830"/>
                      <a:pt x="0" y="918742"/>
                      <a:pt x="0" y="915522"/>
                    </a:cubicBezTo>
                    <a:lnTo>
                      <a:pt x="0" y="12141"/>
                    </a:lnTo>
                    <a:cubicBezTo>
                      <a:pt x="0" y="8921"/>
                      <a:pt x="1279" y="5833"/>
                      <a:pt x="3556" y="3556"/>
                    </a:cubicBezTo>
                    <a:cubicBezTo>
                      <a:pt x="5833" y="1279"/>
                      <a:pt x="8921" y="0"/>
                      <a:pt x="12141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561596" cy="965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9179833" cy="3733772"/>
              <a:chOff x="0" y="0"/>
              <a:chExt cx="4287606" cy="83467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87606" cy="834676"/>
              </a:xfrm>
              <a:custGeom>
                <a:avLst/>
                <a:gdLst/>
                <a:ahLst/>
                <a:cxnLst/>
                <a:rect r="r" b="b" t="t" l="l"/>
                <a:pathLst>
                  <a:path h="834676" w="4287606">
                    <a:moveTo>
                      <a:pt x="11840" y="0"/>
                    </a:moveTo>
                    <a:lnTo>
                      <a:pt x="4275765" y="0"/>
                    </a:lnTo>
                    <a:cubicBezTo>
                      <a:pt x="4278905" y="0"/>
                      <a:pt x="4281917" y="1247"/>
                      <a:pt x="4284138" y="3468"/>
                    </a:cubicBezTo>
                    <a:cubicBezTo>
                      <a:pt x="4286358" y="5688"/>
                      <a:pt x="4287606" y="8700"/>
                      <a:pt x="4287606" y="11840"/>
                    </a:cubicBezTo>
                    <a:lnTo>
                      <a:pt x="4287606" y="822835"/>
                    </a:lnTo>
                    <a:cubicBezTo>
                      <a:pt x="4287606" y="829375"/>
                      <a:pt x="4282305" y="834676"/>
                      <a:pt x="4275765" y="834676"/>
                    </a:cubicBezTo>
                    <a:lnTo>
                      <a:pt x="11840" y="834676"/>
                    </a:lnTo>
                    <a:cubicBezTo>
                      <a:pt x="8700" y="834676"/>
                      <a:pt x="5688" y="833428"/>
                      <a:pt x="3468" y="831208"/>
                    </a:cubicBezTo>
                    <a:cubicBezTo>
                      <a:pt x="1247" y="828987"/>
                      <a:pt x="0" y="825976"/>
                      <a:pt x="0" y="822835"/>
                    </a:cubicBezTo>
                    <a:lnTo>
                      <a:pt x="0" y="11840"/>
                    </a:lnTo>
                    <a:cubicBezTo>
                      <a:pt x="0" y="8700"/>
                      <a:pt x="1247" y="5688"/>
                      <a:pt x="3468" y="3468"/>
                    </a:cubicBezTo>
                    <a:cubicBezTo>
                      <a:pt x="5688" y="1247"/>
                      <a:pt x="8700" y="0"/>
                      <a:pt x="11840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287606" cy="8727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028700" y="6022930"/>
            <a:ext cx="15304111" cy="3035591"/>
            <a:chOff x="0" y="0"/>
            <a:chExt cx="4561596" cy="9047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61596" cy="904799"/>
            </a:xfrm>
            <a:custGeom>
              <a:avLst/>
              <a:gdLst/>
              <a:ahLst/>
              <a:cxnLst/>
              <a:rect r="r" b="b" t="t" l="l"/>
              <a:pathLst>
                <a:path h="904799" w="4561596">
                  <a:moveTo>
                    <a:pt x="11129" y="0"/>
                  </a:moveTo>
                  <a:lnTo>
                    <a:pt x="4550467" y="0"/>
                  </a:lnTo>
                  <a:cubicBezTo>
                    <a:pt x="4553419" y="0"/>
                    <a:pt x="4556249" y="1173"/>
                    <a:pt x="4558337" y="3260"/>
                  </a:cubicBezTo>
                  <a:cubicBezTo>
                    <a:pt x="4560424" y="5347"/>
                    <a:pt x="4561596" y="8178"/>
                    <a:pt x="4561596" y="11129"/>
                  </a:cubicBezTo>
                  <a:lnTo>
                    <a:pt x="4561596" y="893670"/>
                  </a:lnTo>
                  <a:cubicBezTo>
                    <a:pt x="4561596" y="896621"/>
                    <a:pt x="4560424" y="899452"/>
                    <a:pt x="4558337" y="901539"/>
                  </a:cubicBezTo>
                  <a:cubicBezTo>
                    <a:pt x="4556249" y="903626"/>
                    <a:pt x="4553419" y="904799"/>
                    <a:pt x="4550467" y="904799"/>
                  </a:cubicBezTo>
                  <a:lnTo>
                    <a:pt x="11129" y="904799"/>
                  </a:lnTo>
                  <a:cubicBezTo>
                    <a:pt x="8178" y="904799"/>
                    <a:pt x="5347" y="903626"/>
                    <a:pt x="3260" y="901539"/>
                  </a:cubicBezTo>
                  <a:cubicBezTo>
                    <a:pt x="1173" y="899452"/>
                    <a:pt x="0" y="896621"/>
                    <a:pt x="0" y="893670"/>
                  </a:cubicBezTo>
                  <a:lnTo>
                    <a:pt x="0" y="11129"/>
                  </a:lnTo>
                  <a:cubicBezTo>
                    <a:pt x="0" y="8178"/>
                    <a:pt x="1173" y="5347"/>
                    <a:pt x="3260" y="3260"/>
                  </a:cubicBezTo>
                  <a:cubicBezTo>
                    <a:pt x="5347" y="1173"/>
                    <a:pt x="8178" y="0"/>
                    <a:pt x="11129" y="0"/>
                  </a:cubicBezTo>
                  <a:close/>
                </a:path>
              </a:pathLst>
            </a:custGeom>
            <a:solidFill>
              <a:srgbClr val="5666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561596" cy="942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0" y="9416472"/>
            <a:ext cx="18288000" cy="870528"/>
          </a:xfrm>
          <a:custGeom>
            <a:avLst/>
            <a:gdLst/>
            <a:ahLst/>
            <a:cxnLst/>
            <a:rect r="r" b="b" t="t" l="l"/>
            <a:pathLst>
              <a:path h="870528" w="18288000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00794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84022" y="2516694"/>
            <a:ext cx="687958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Mockups com</a:t>
            </a:r>
            <a:r>
              <a:rPr lang="en-US" b="true" sz="29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pletos para roles clave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20187" y="5985168"/>
            <a:ext cx="5791795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Benefi</a:t>
            </a:r>
            <a:r>
              <a:rPr lang="en-US" b="true" sz="29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cios clave de los diseños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5175" y="2959239"/>
            <a:ext cx="13690757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GENERACIÓN FRECUENTE DE DUPLICIDAD DE INFORMACIÓN Y PÉRDIDA DE DATOS CRÍTICOS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FALTA DE AUTOMATIZACIÓN QUE LIMITA LA TRAZABILIDAD EFECTIVA DE LOS VEHÍCULOS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5175" y="6790687"/>
            <a:ext cx="13690757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ANTI</a:t>
            </a: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CIPAN LA INTERACCIÓN CON LA PLATAFORMA PEPSI FLEET PARA MEJORAR LA USABILIDAD.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MINIMIZAN RIESGOS AL PERMITIR AJUSTES PREVIOS AL DESARROLLO FINAL.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MEJORAN LA EFICIENCIA Y SATISFACCIÓN DEL USUARIO FINAL EN LA GESTIÓN DIARIA.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06092" y="509080"/>
            <a:ext cx="13475816" cy="167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AVANCES CLAVE EN EL DISEÑO DE LA INTERFAZ DE USUARIO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56055"/>
            <a:ext cx="10650259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2110530"/>
            <a:ext cx="18288000" cy="8176470"/>
            <a:chOff x="0" y="0"/>
            <a:chExt cx="24384000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4384000" cy="10901961"/>
              <a:chOff x="0" y="0"/>
              <a:chExt cx="4362273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362273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4362273">
                    <a:moveTo>
                      <a:pt x="14763" y="0"/>
                    </a:moveTo>
                    <a:lnTo>
                      <a:pt x="4347510" y="0"/>
                    </a:lnTo>
                    <a:cubicBezTo>
                      <a:pt x="4351425" y="0"/>
                      <a:pt x="4355180" y="1555"/>
                      <a:pt x="4357949" y="4324"/>
                    </a:cubicBezTo>
                    <a:cubicBezTo>
                      <a:pt x="4360718" y="7092"/>
                      <a:pt x="4362273" y="10847"/>
                      <a:pt x="4362273" y="14763"/>
                    </a:cubicBezTo>
                    <a:lnTo>
                      <a:pt x="4362273" y="1935587"/>
                    </a:lnTo>
                    <a:cubicBezTo>
                      <a:pt x="4362273" y="1939502"/>
                      <a:pt x="4360718" y="1943257"/>
                      <a:pt x="4357949" y="1946026"/>
                    </a:cubicBezTo>
                    <a:cubicBezTo>
                      <a:pt x="4355180" y="1948794"/>
                      <a:pt x="4351425" y="1950350"/>
                      <a:pt x="4347510" y="1950350"/>
                    </a:cubicBezTo>
                    <a:lnTo>
                      <a:pt x="14763" y="1950350"/>
                    </a:lnTo>
                    <a:cubicBezTo>
                      <a:pt x="10847" y="1950350"/>
                      <a:pt x="7092" y="1948794"/>
                      <a:pt x="4324" y="1946026"/>
                    </a:cubicBezTo>
                    <a:cubicBezTo>
                      <a:pt x="1555" y="1943257"/>
                      <a:pt x="0" y="1939502"/>
                      <a:pt x="0" y="1935587"/>
                    </a:cubicBezTo>
                    <a:lnTo>
                      <a:pt x="0" y="14763"/>
                    </a:lnTo>
                    <a:cubicBezTo>
                      <a:pt x="0" y="10847"/>
                      <a:pt x="1555" y="7092"/>
                      <a:pt x="4324" y="4324"/>
                    </a:cubicBezTo>
                    <a:cubicBezTo>
                      <a:pt x="7092" y="1555"/>
                      <a:pt x="10847" y="0"/>
                      <a:pt x="14763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362273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3857679" cy="10721551"/>
              <a:chOff x="0" y="0"/>
              <a:chExt cx="4268115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68115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4268115">
                    <a:moveTo>
                      <a:pt x="13831" y="0"/>
                    </a:moveTo>
                    <a:lnTo>
                      <a:pt x="4254284" y="0"/>
                    </a:lnTo>
                    <a:cubicBezTo>
                      <a:pt x="4261922" y="0"/>
                      <a:pt x="4268115" y="6192"/>
                      <a:pt x="4268115" y="13831"/>
                    </a:cubicBezTo>
                    <a:lnTo>
                      <a:pt x="4268115" y="1904244"/>
                    </a:lnTo>
                    <a:cubicBezTo>
                      <a:pt x="4268115" y="1911882"/>
                      <a:pt x="4261922" y="1918075"/>
                      <a:pt x="4254284" y="1918075"/>
                    </a:cubicBezTo>
                    <a:lnTo>
                      <a:pt x="13831" y="1918075"/>
                    </a:lnTo>
                    <a:cubicBezTo>
                      <a:pt x="6192" y="1918075"/>
                      <a:pt x="0" y="1911882"/>
                      <a:pt x="0" y="1904244"/>
                    </a:cubicBezTo>
                    <a:lnTo>
                      <a:pt x="0" y="13831"/>
                    </a:lnTo>
                    <a:cubicBezTo>
                      <a:pt x="0" y="6192"/>
                      <a:pt x="6192" y="0"/>
                      <a:pt x="13831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268115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47091" y="2462733"/>
            <a:ext cx="6365437" cy="3479168"/>
          </a:xfrm>
          <a:custGeom>
            <a:avLst/>
            <a:gdLst/>
            <a:ahLst/>
            <a:cxnLst/>
            <a:rect r="r" b="b" t="t" l="l"/>
            <a:pathLst>
              <a:path h="3479168" w="6365437">
                <a:moveTo>
                  <a:pt x="0" y="0"/>
                </a:moveTo>
                <a:lnTo>
                  <a:pt x="6365437" y="0"/>
                </a:lnTo>
                <a:lnTo>
                  <a:pt x="6365437" y="3479168"/>
                </a:lnTo>
                <a:lnTo>
                  <a:pt x="0" y="3479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174" r="0" b="-717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310374" y="2462733"/>
            <a:ext cx="5503441" cy="3479168"/>
          </a:xfrm>
          <a:custGeom>
            <a:avLst/>
            <a:gdLst/>
            <a:ahLst/>
            <a:cxnLst/>
            <a:rect r="r" b="b" t="t" l="l"/>
            <a:pathLst>
              <a:path h="3479168" w="5503441">
                <a:moveTo>
                  <a:pt x="0" y="0"/>
                </a:moveTo>
                <a:lnTo>
                  <a:pt x="5503441" y="0"/>
                </a:lnTo>
                <a:lnTo>
                  <a:pt x="5503441" y="3479168"/>
                </a:lnTo>
                <a:lnTo>
                  <a:pt x="0" y="3479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586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7091" y="6028869"/>
            <a:ext cx="6365437" cy="3978398"/>
          </a:xfrm>
          <a:custGeom>
            <a:avLst/>
            <a:gdLst/>
            <a:ahLst/>
            <a:cxnLst/>
            <a:rect r="r" b="b" t="t" l="l"/>
            <a:pathLst>
              <a:path h="3978398" w="6365437">
                <a:moveTo>
                  <a:pt x="0" y="0"/>
                </a:moveTo>
                <a:lnTo>
                  <a:pt x="6365437" y="0"/>
                </a:lnTo>
                <a:lnTo>
                  <a:pt x="6365437" y="3978398"/>
                </a:lnTo>
                <a:lnTo>
                  <a:pt x="0" y="3978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512528" y="5980001"/>
            <a:ext cx="5301288" cy="4027266"/>
          </a:xfrm>
          <a:custGeom>
            <a:avLst/>
            <a:gdLst/>
            <a:ahLst/>
            <a:cxnLst/>
            <a:rect r="r" b="b" t="t" l="l"/>
            <a:pathLst>
              <a:path h="4027266" w="5301288">
                <a:moveTo>
                  <a:pt x="0" y="0"/>
                </a:moveTo>
                <a:lnTo>
                  <a:pt x="5301287" y="0"/>
                </a:lnTo>
                <a:lnTo>
                  <a:pt x="5301287" y="4027266"/>
                </a:lnTo>
                <a:lnTo>
                  <a:pt x="0" y="4027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687" r="0" b="-12771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813815" y="2466740"/>
            <a:ext cx="5840602" cy="3562128"/>
          </a:xfrm>
          <a:custGeom>
            <a:avLst/>
            <a:gdLst/>
            <a:ahLst/>
            <a:cxnLst/>
            <a:rect r="r" b="b" t="t" l="l"/>
            <a:pathLst>
              <a:path h="3562128" w="5840602">
                <a:moveTo>
                  <a:pt x="0" y="0"/>
                </a:moveTo>
                <a:lnTo>
                  <a:pt x="5840602" y="0"/>
                </a:lnTo>
                <a:lnTo>
                  <a:pt x="5840602" y="3562129"/>
                </a:lnTo>
                <a:lnTo>
                  <a:pt x="0" y="3562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862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813815" y="6028869"/>
            <a:ext cx="5953622" cy="3911625"/>
          </a:xfrm>
          <a:custGeom>
            <a:avLst/>
            <a:gdLst/>
            <a:ahLst/>
            <a:cxnLst/>
            <a:rect r="r" b="b" t="t" l="l"/>
            <a:pathLst>
              <a:path h="3911625" w="5953622">
                <a:moveTo>
                  <a:pt x="0" y="0"/>
                </a:moveTo>
                <a:lnTo>
                  <a:pt x="5953622" y="0"/>
                </a:lnTo>
                <a:lnTo>
                  <a:pt x="5953622" y="3911625"/>
                </a:lnTo>
                <a:lnTo>
                  <a:pt x="0" y="3911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61" t="0" r="-2561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512528" y="2008001"/>
            <a:ext cx="4789139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MOCKUP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9144000" y="4020001"/>
            <a:ext cx="0" cy="4504514"/>
          </a:xfrm>
          <a:prstGeom prst="line">
            <a:avLst/>
          </a:prstGeom>
          <a:ln cap="flat" w="38100">
            <a:solidFill>
              <a:srgbClr val="FFB02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666483" y="5794741"/>
            <a:ext cx="955034" cy="95503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2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1728698" y="5774397"/>
            <a:ext cx="5678302" cy="0"/>
          </a:xfrm>
          <a:prstGeom prst="line">
            <a:avLst/>
          </a:prstGeom>
          <a:ln cap="flat" w="19050">
            <a:solidFill>
              <a:srgbClr val="E4E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728698" y="7144693"/>
            <a:ext cx="5678302" cy="0"/>
          </a:xfrm>
          <a:prstGeom prst="line">
            <a:avLst/>
          </a:prstGeom>
          <a:ln cap="flat" w="19050">
            <a:solidFill>
              <a:srgbClr val="E4E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728698" y="8311612"/>
            <a:ext cx="5678302" cy="0"/>
          </a:xfrm>
          <a:prstGeom prst="line">
            <a:avLst/>
          </a:prstGeom>
          <a:ln cap="flat" w="19050">
            <a:solidFill>
              <a:srgbClr val="E4E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140504" y="3806148"/>
            <a:ext cx="7388346" cy="4932220"/>
          </a:xfrm>
          <a:custGeom>
            <a:avLst/>
            <a:gdLst/>
            <a:ahLst/>
            <a:cxnLst/>
            <a:rect r="r" b="b" t="t" l="l"/>
            <a:pathLst>
              <a:path h="4932220" w="7388346">
                <a:moveTo>
                  <a:pt x="0" y="0"/>
                </a:moveTo>
                <a:lnTo>
                  <a:pt x="7388346" y="0"/>
                </a:lnTo>
                <a:lnTo>
                  <a:pt x="7388346" y="4932220"/>
                </a:lnTo>
                <a:lnTo>
                  <a:pt x="0" y="4932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39547" y="1437684"/>
            <a:ext cx="7854845" cy="167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0F2FD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GESTION EFECTIVA 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06289" y="2233566"/>
            <a:ext cx="9100801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B02C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REPLANIFICACION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8698" y="4029526"/>
            <a:ext cx="4218819" cy="33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282" b="true">
                <a:solidFill>
                  <a:srgbClr val="F0F2FD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JUSTIFICACION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2218" y="4726518"/>
            <a:ext cx="786426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Desafío principal: ampliación significativa del alcance tras la segunda reunión, que invalidó la planificación original,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2218" y="6022047"/>
            <a:ext cx="786426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Ajuste aplicado: re-planificación formal con redefinición del alcance y simplificación de funcionalidades, como reportes en Excel en lugar de KPIs avanzados.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2218" y="8416387"/>
            <a:ext cx="786426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Facilitador clave: comunicación fluida y rápida adaptación del equipo, asegurando viabilidad y realineación exitosa del proyecto.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2218" y="7468543"/>
            <a:ext cx="786426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Retraso: Sprint 2, no pasamos de la fecha por alcances nuevos y mal análisis de tiempo. 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639547" y="9540337"/>
            <a:ext cx="5678302" cy="0"/>
          </a:xfrm>
          <a:prstGeom prst="line">
            <a:avLst/>
          </a:prstGeom>
          <a:ln cap="flat" w="19050">
            <a:solidFill>
              <a:srgbClr val="E4E5E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67051" y="2738406"/>
            <a:ext cx="12718210" cy="611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F0F2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(Nuestro Foco Ahora)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Objetivo Inmediato: Iniciar y completar el Sprint 2: "El Flujo de Entrada".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Tareas:</a:t>
            </a:r>
          </a:p>
          <a:p>
            <a:pPr algn="l">
              <a:lnSpc>
                <a:spcPts val="2520"/>
              </a:lnSpc>
            </a:pPr>
          </a:p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b="true" sz="2299">
                <a:solidFill>
                  <a:srgbClr val="F0F2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Backend :</a:t>
            </a:r>
          </a:p>
          <a:p>
            <a:pPr algn="l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Desarrollar la lógica para el agendamiento de citas en el calendario.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Implementar la integración con el servicio de notificaciones para el envío de correos automáticos.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Construir la lógica del servidor para el control de acceso del Guardia (búsqueda de patente y registro de ingreso).</a:t>
            </a:r>
          </a:p>
          <a:p>
            <a:pPr algn="l">
              <a:lnSpc>
                <a:spcPts val="2520"/>
              </a:lnSpc>
            </a:pPr>
          </a:p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b="true" sz="2299">
                <a:solidFill>
                  <a:srgbClr val="F0F2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Frontend :</a:t>
            </a:r>
          </a:p>
          <a:p>
            <a:pPr algn="l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Construir la interfaz del calendario para el Coordinador.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Desarrollar la interfaz minimalista del Guardia para el registro de ingresos.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Resultado Esperado del Sprint 2: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791514" y="1380534"/>
            <a:ext cx="3782561" cy="3782561"/>
          </a:xfrm>
          <a:custGeom>
            <a:avLst/>
            <a:gdLst/>
            <a:ahLst/>
            <a:cxnLst/>
            <a:rect r="r" b="b" t="t" l="l"/>
            <a:pathLst>
              <a:path h="3782561" w="3782561">
                <a:moveTo>
                  <a:pt x="0" y="0"/>
                </a:moveTo>
                <a:lnTo>
                  <a:pt x="3782561" y="0"/>
                </a:lnTo>
                <a:lnTo>
                  <a:pt x="3782561" y="3782561"/>
                </a:lnTo>
                <a:lnTo>
                  <a:pt x="0" y="3782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91132" y="1437684"/>
            <a:ext cx="7854845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b="true" sz="6399">
                <a:solidFill>
                  <a:srgbClr val="FFB02C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PROXIMOS PASOS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86241" y="0"/>
            <a:ext cx="7601759" cy="10287000"/>
            <a:chOff x="0" y="0"/>
            <a:chExt cx="117771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771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7711">
                  <a:moveTo>
                    <a:pt x="0" y="0"/>
                  </a:moveTo>
                  <a:lnTo>
                    <a:pt x="1177711" y="0"/>
                  </a:lnTo>
                  <a:lnTo>
                    <a:pt x="117771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9452" t="0" r="-4366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5378" y="4618260"/>
            <a:ext cx="9838730" cy="3729551"/>
            <a:chOff x="0" y="0"/>
            <a:chExt cx="2932566" cy="11116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32566" cy="1111643"/>
            </a:xfrm>
            <a:custGeom>
              <a:avLst/>
              <a:gdLst/>
              <a:ahLst/>
              <a:cxnLst/>
              <a:rect r="r" b="b" t="t" l="l"/>
              <a:pathLst>
                <a:path h="1111643" w="2932566">
                  <a:moveTo>
                    <a:pt x="17311" y="0"/>
                  </a:moveTo>
                  <a:lnTo>
                    <a:pt x="2915255" y="0"/>
                  </a:lnTo>
                  <a:cubicBezTo>
                    <a:pt x="2919846" y="0"/>
                    <a:pt x="2924249" y="1824"/>
                    <a:pt x="2927496" y="5070"/>
                  </a:cubicBezTo>
                  <a:cubicBezTo>
                    <a:pt x="2930742" y="8317"/>
                    <a:pt x="2932566" y="12720"/>
                    <a:pt x="2932566" y="17311"/>
                  </a:cubicBezTo>
                  <a:lnTo>
                    <a:pt x="2932566" y="1094331"/>
                  </a:lnTo>
                  <a:cubicBezTo>
                    <a:pt x="2932566" y="1098923"/>
                    <a:pt x="2930742" y="1103326"/>
                    <a:pt x="2927496" y="1106572"/>
                  </a:cubicBezTo>
                  <a:cubicBezTo>
                    <a:pt x="2924249" y="1109819"/>
                    <a:pt x="2919846" y="1111643"/>
                    <a:pt x="2915255" y="1111643"/>
                  </a:cubicBezTo>
                  <a:lnTo>
                    <a:pt x="17311" y="1111643"/>
                  </a:lnTo>
                  <a:cubicBezTo>
                    <a:pt x="12720" y="1111643"/>
                    <a:pt x="8317" y="1109819"/>
                    <a:pt x="5070" y="1106572"/>
                  </a:cubicBezTo>
                  <a:cubicBezTo>
                    <a:pt x="1824" y="1103326"/>
                    <a:pt x="0" y="1098923"/>
                    <a:pt x="0" y="1094331"/>
                  </a:cubicBezTo>
                  <a:lnTo>
                    <a:pt x="0" y="17311"/>
                  </a:lnTo>
                  <a:cubicBezTo>
                    <a:pt x="0" y="12720"/>
                    <a:pt x="1824" y="8317"/>
                    <a:pt x="5070" y="5070"/>
                  </a:cubicBezTo>
                  <a:cubicBezTo>
                    <a:pt x="8317" y="1824"/>
                    <a:pt x="12720" y="0"/>
                    <a:pt x="17311" y="0"/>
                  </a:cubicBezTo>
                  <a:close/>
                </a:path>
              </a:pathLst>
            </a:custGeom>
            <a:solidFill>
              <a:srgbClr val="5666F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32566" cy="1149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18469" y="3368626"/>
            <a:ext cx="6702926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CONCLUISIÓN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0369" y="5391930"/>
            <a:ext cx="9339815" cy="79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5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La fase de planificación y diseño ha concluido, generando detalladamente el sistema.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DAG1uBRBZEU</dc:identifier>
  <dcterms:modified xsi:type="dcterms:W3CDTF">2011-08-01T06:04:30Z</dcterms:modified>
  <cp:revision>1</cp:revision>
  <dc:title>Presentación Proyecto de Negocios Moderno Azul</dc:title>
</cp:coreProperties>
</file>