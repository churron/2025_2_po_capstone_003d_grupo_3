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Proxima Nova Bold" charset="1" panose="02000506030000020004"/>
      <p:regular r:id="rId19"/>
    </p:embeddedFont>
    <p:embeddedFont>
      <p:font typeface="Proxima Nova" charset="1" panose="0200050603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3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90492" y="666750"/>
            <a:ext cx="1430758" cy="14307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344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23552" lIns="23552" bIns="23552" rIns="23552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-12700"/>
            <a:ext cx="9144000" cy="10299700"/>
            <a:chOff x="0" y="0"/>
            <a:chExt cx="786406" cy="8857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6406" cy="885799"/>
            </a:xfrm>
            <a:custGeom>
              <a:avLst/>
              <a:gdLst/>
              <a:ahLst/>
              <a:cxnLst/>
              <a:rect r="r" b="b" t="t" l="l"/>
              <a:pathLst>
                <a:path h="885799" w="786406">
                  <a:moveTo>
                    <a:pt x="0" y="0"/>
                  </a:moveTo>
                  <a:lnTo>
                    <a:pt x="786406" y="0"/>
                  </a:lnTo>
                  <a:lnTo>
                    <a:pt x="786406" y="885799"/>
                  </a:lnTo>
                  <a:lnTo>
                    <a:pt x="0" y="885799"/>
                  </a:lnTo>
                  <a:close/>
                </a:path>
              </a:pathLst>
            </a:custGeom>
            <a:blipFill>
              <a:blip r:embed="rId2"/>
              <a:stretch>
                <a:fillRect l="0" t="-157" r="0" b="-157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7790" y="131064"/>
            <a:ext cx="2111921" cy="679450"/>
          </a:xfrm>
          <a:custGeom>
            <a:avLst/>
            <a:gdLst/>
            <a:ahLst/>
            <a:cxnLst/>
            <a:rect r="r" b="b" t="t" l="l"/>
            <a:pathLst>
              <a:path h="679450" w="2111921">
                <a:moveTo>
                  <a:pt x="0" y="0"/>
                </a:moveTo>
                <a:lnTo>
                  <a:pt x="2111921" y="0"/>
                </a:lnTo>
                <a:lnTo>
                  <a:pt x="2111921" y="679450"/>
                </a:lnTo>
                <a:lnTo>
                  <a:pt x="0" y="679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288000" y="-887849"/>
            <a:ext cx="6285442" cy="6356958"/>
          </a:xfrm>
          <a:custGeom>
            <a:avLst/>
            <a:gdLst/>
            <a:ahLst/>
            <a:cxnLst/>
            <a:rect r="r" b="b" t="t" l="l"/>
            <a:pathLst>
              <a:path h="6356958" w="6285442">
                <a:moveTo>
                  <a:pt x="0" y="0"/>
                </a:moveTo>
                <a:lnTo>
                  <a:pt x="6285442" y="0"/>
                </a:lnTo>
                <a:lnTo>
                  <a:pt x="628544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270371" y="3681423"/>
            <a:ext cx="2891258" cy="2924155"/>
          </a:xfrm>
          <a:custGeom>
            <a:avLst/>
            <a:gdLst/>
            <a:ahLst/>
            <a:cxnLst/>
            <a:rect r="r" b="b" t="t" l="l"/>
            <a:pathLst>
              <a:path h="2924155" w="2891258">
                <a:moveTo>
                  <a:pt x="0" y="0"/>
                </a:moveTo>
                <a:lnTo>
                  <a:pt x="2891258" y="0"/>
                </a:lnTo>
                <a:lnTo>
                  <a:pt x="2891258" y="2924154"/>
                </a:lnTo>
                <a:lnTo>
                  <a:pt x="0" y="29241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81785" y="1028700"/>
            <a:ext cx="6886575" cy="6002177"/>
            <a:chOff x="0" y="0"/>
            <a:chExt cx="9182100" cy="800290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9525"/>
              <a:ext cx="9182100" cy="6088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b="true" sz="8000">
                  <a:solidFill>
                    <a:srgbClr val="E6F0F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Proyecto CAPSTONE: Sistema de Gestión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6615427"/>
              <a:ext cx="9182100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6F0F3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Taller Mecánico (ATP) – Digitalización del flujo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81785" y="7601598"/>
            <a:ext cx="687154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6F0F3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Presentado por el equipo de: Carlos Bustamante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6F0F3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                                Felipe Carrasco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78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457995" cy="1640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7995" cy="1640244"/>
            </a:xfrm>
            <a:custGeom>
              <a:avLst/>
              <a:gdLst/>
              <a:ahLst/>
              <a:cxnLst/>
              <a:rect r="r" b="b" t="t" l="l"/>
              <a:pathLst>
                <a:path h="1640244" w="1457995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2"/>
              <a:stretch>
                <a:fillRect l="0" t="-219" r="0" b="-21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2042" y="666750"/>
            <a:ext cx="6886575" cy="6503616"/>
            <a:chOff x="0" y="0"/>
            <a:chExt cx="9182100" cy="867148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543300"/>
              <a:ext cx="9167398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b="true" sz="3000">
                  <a:solidFill>
                    <a:srgbClr val="E6F0F3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Digitalización del flujo de trabajo del taller mecánico para mayor eficiencia y control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610278"/>
              <a:ext cx="9182100" cy="2061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Mejorar la gestión operativa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Aumentar la productividad del equipo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Reducir tiempos de espera y costos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Facilitar el seguimiento de tareas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9175044" cy="3116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b="true" sz="8000">
                  <a:solidFill>
                    <a:srgbClr val="E6F0F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Propósito del Proyecto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457995" cy="1640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7995" cy="1640244"/>
            </a:xfrm>
            <a:custGeom>
              <a:avLst/>
              <a:gdLst/>
              <a:ahLst/>
              <a:cxnLst/>
              <a:rect r="r" b="b" t="t" l="l"/>
              <a:pathLst>
                <a:path h="1640244" w="1457995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2"/>
              <a:stretch>
                <a:fillRect l="0" t="-219" r="0" b="-21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2042" y="666750"/>
            <a:ext cx="6886575" cy="5903839"/>
            <a:chOff x="0" y="0"/>
            <a:chExt cx="9182100" cy="787178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543300"/>
              <a:ext cx="9167398" cy="647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b="true" sz="3000">
                  <a:solidFill>
                    <a:srgbClr val="1E78B7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Mezcla de Metodologías, una “Hibrida”.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289434"/>
              <a:ext cx="9182100" cy="2582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>
                  <a:solidFill>
                    <a:srgbClr val="12344A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Que la pagina web cumpla con lo criterios estipulados y funcione correctamente.</a:t>
              </a:r>
            </a:p>
            <a:p>
              <a:pPr algn="l">
                <a:lnSpc>
                  <a:spcPts val="3120"/>
                </a:lnSpc>
              </a:pP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>
                  <a:solidFill>
                    <a:srgbClr val="12344A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Utilizaremos una mezcla de metodología clásica y metodología Ágil.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9175044" cy="3116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b="true" sz="8000">
                  <a:solidFill>
                    <a:srgbClr val="12344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Objetivo y Metodología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3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457995" cy="1640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7995" cy="1640244"/>
            </a:xfrm>
            <a:custGeom>
              <a:avLst/>
              <a:gdLst/>
              <a:ahLst/>
              <a:cxnLst/>
              <a:rect r="r" b="b" t="t" l="l"/>
              <a:pathLst>
                <a:path h="1640244" w="1457995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2"/>
              <a:stretch>
                <a:fillRect l="0" t="-219" r="0" b="-21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4146" y="666750"/>
            <a:ext cx="6886575" cy="7180354"/>
            <a:chOff x="0" y="0"/>
            <a:chExt cx="9182100" cy="957380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543300"/>
              <a:ext cx="9167398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b="true" sz="3000">
                  <a:solidFill>
                    <a:srgbClr val="E6F0F3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Organización y gestión ágil del proceso de desarrollo Scrum para el equipo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949878"/>
              <a:ext cx="9182100" cy="3623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Sprints de 4 días para entregas incrementales</a:t>
              </a:r>
            </a:p>
            <a:p>
              <a:pPr algn="l">
                <a:lnSpc>
                  <a:spcPts val="3120"/>
                </a:lnSpc>
              </a:pP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Sp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 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1: E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 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Nú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le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 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del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iste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nt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2: E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 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uj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de Ent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ra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da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Spr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3: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 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Ej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ón d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Trabaj</a:t>
              </a: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Sprint 4: Cierre y Visualización</a:t>
              </a:r>
            </a:p>
            <a:p>
              <a:pPr algn="l">
                <a:lnSpc>
                  <a:spcPts val="3120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9175044" cy="3116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b="true" sz="8000">
                  <a:solidFill>
                    <a:srgbClr val="E6F0F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Estructura de Sprints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010999" y="2411981"/>
            <a:ext cx="2266001" cy="5706527"/>
          </a:xfrm>
          <a:custGeom>
            <a:avLst/>
            <a:gdLst/>
            <a:ahLst/>
            <a:cxnLst/>
            <a:rect r="r" b="b" t="t" l="l"/>
            <a:pathLst>
              <a:path h="5706527" w="2266001">
                <a:moveTo>
                  <a:pt x="0" y="0"/>
                </a:moveTo>
                <a:lnTo>
                  <a:pt x="2266002" y="0"/>
                </a:lnTo>
                <a:lnTo>
                  <a:pt x="2266002" y="5706526"/>
                </a:lnTo>
                <a:lnTo>
                  <a:pt x="0" y="5706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78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81856" y="0"/>
            <a:ext cx="8306144" cy="10287000"/>
            <a:chOff x="0" y="0"/>
            <a:chExt cx="1448377" cy="17937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8377" cy="1793787"/>
            </a:xfrm>
            <a:custGeom>
              <a:avLst/>
              <a:gdLst/>
              <a:ahLst/>
              <a:cxnLst/>
              <a:rect r="r" b="b" t="t" l="l"/>
              <a:pathLst>
                <a:path h="1793787" w="1448377">
                  <a:moveTo>
                    <a:pt x="0" y="0"/>
                  </a:moveTo>
                  <a:lnTo>
                    <a:pt x="1448377" y="0"/>
                  </a:lnTo>
                  <a:lnTo>
                    <a:pt x="1448377" y="1793787"/>
                  </a:lnTo>
                  <a:lnTo>
                    <a:pt x="0" y="1793787"/>
                  </a:lnTo>
                  <a:close/>
                </a:path>
              </a:pathLst>
            </a:custGeom>
            <a:blipFill>
              <a:blip r:embed="rId2"/>
              <a:stretch>
                <a:fillRect l="-208" t="0" r="-20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55254" y="169210"/>
            <a:ext cx="1868075" cy="601000"/>
          </a:xfrm>
          <a:custGeom>
            <a:avLst/>
            <a:gdLst/>
            <a:ahLst/>
            <a:cxnLst/>
            <a:rect r="r" b="b" t="t" l="l"/>
            <a:pathLst>
              <a:path h="601000" w="1868075">
                <a:moveTo>
                  <a:pt x="0" y="0"/>
                </a:moveTo>
                <a:lnTo>
                  <a:pt x="1868075" y="0"/>
                </a:lnTo>
                <a:lnTo>
                  <a:pt x="1868075" y="600999"/>
                </a:lnTo>
                <a:lnTo>
                  <a:pt x="0" y="600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577256"/>
            <a:ext cx="6886575" cy="6008316"/>
            <a:chOff x="0" y="0"/>
            <a:chExt cx="9182100" cy="801108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543300"/>
              <a:ext cx="9167398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b="true" sz="3000">
                  <a:solidFill>
                    <a:srgbClr val="E6F0F3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Resumen de historias de usuario y criterios de aceptación en el proyecto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949878"/>
              <a:ext cx="9182100" cy="2061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14 historias de usuario definidas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Criterios de aceptación claros y medibles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Estimaciones de tiempo para cada historia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Documentación centralizada y accesible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175044" cy="3116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b="true" sz="8000">
                  <a:solidFill>
                    <a:srgbClr val="E6F0F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Product Backlog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9381" y="135161"/>
            <a:ext cx="4595277" cy="4564397"/>
            <a:chOff x="0" y="0"/>
            <a:chExt cx="1948150" cy="19350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8150" cy="1935058"/>
            </a:xfrm>
            <a:custGeom>
              <a:avLst/>
              <a:gdLst/>
              <a:ahLst/>
              <a:cxnLst/>
              <a:rect r="r" b="b" t="t" l="l"/>
              <a:pathLst>
                <a:path h="1935058" w="1948150">
                  <a:moveTo>
                    <a:pt x="0" y="0"/>
                  </a:moveTo>
                  <a:lnTo>
                    <a:pt x="1948150" y="0"/>
                  </a:lnTo>
                  <a:lnTo>
                    <a:pt x="1948150" y="1935058"/>
                  </a:lnTo>
                  <a:lnTo>
                    <a:pt x="0" y="1935058"/>
                  </a:lnTo>
                  <a:close/>
                </a:path>
              </a:pathLst>
            </a:custGeom>
            <a:blipFill>
              <a:blip r:embed="rId2"/>
              <a:stretch>
                <a:fillRect l="0" t="-1846" r="0" b="-184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492072" y="135161"/>
            <a:ext cx="4303776" cy="4564397"/>
          </a:xfrm>
          <a:custGeom>
            <a:avLst/>
            <a:gdLst/>
            <a:ahLst/>
            <a:cxnLst/>
            <a:rect r="r" b="b" t="t" l="l"/>
            <a:pathLst>
              <a:path h="4564397" w="4303776">
                <a:moveTo>
                  <a:pt x="0" y="0"/>
                </a:moveTo>
                <a:lnTo>
                  <a:pt x="4303776" y="0"/>
                </a:lnTo>
                <a:lnTo>
                  <a:pt x="4303776" y="4564398"/>
                </a:lnTo>
                <a:lnTo>
                  <a:pt x="0" y="456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09381" y="5425442"/>
            <a:ext cx="4595277" cy="4155858"/>
          </a:xfrm>
          <a:custGeom>
            <a:avLst/>
            <a:gdLst/>
            <a:ahLst/>
            <a:cxnLst/>
            <a:rect r="r" b="b" t="t" l="l"/>
            <a:pathLst>
              <a:path h="4155858" w="4595277">
                <a:moveTo>
                  <a:pt x="0" y="0"/>
                </a:moveTo>
                <a:lnTo>
                  <a:pt x="4595276" y="0"/>
                </a:lnTo>
                <a:lnTo>
                  <a:pt x="4595276" y="4155858"/>
                </a:lnTo>
                <a:lnTo>
                  <a:pt x="0" y="4155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92072" y="5463892"/>
            <a:ext cx="4369613" cy="3997880"/>
          </a:xfrm>
          <a:custGeom>
            <a:avLst/>
            <a:gdLst/>
            <a:ahLst/>
            <a:cxnLst/>
            <a:rect r="r" b="b" t="t" l="l"/>
            <a:pathLst>
              <a:path h="3997880" w="4369613">
                <a:moveTo>
                  <a:pt x="0" y="0"/>
                </a:moveTo>
                <a:lnTo>
                  <a:pt x="4369613" y="0"/>
                </a:lnTo>
                <a:lnTo>
                  <a:pt x="4369613" y="3997880"/>
                </a:lnTo>
                <a:lnTo>
                  <a:pt x="0" y="3997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72042" y="666750"/>
            <a:ext cx="6886575" cy="8065617"/>
            <a:chOff x="0" y="0"/>
            <a:chExt cx="9182100" cy="1075415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3543300"/>
              <a:ext cx="9167398" cy="1968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b="true" sz="3000">
                  <a:solidFill>
                    <a:srgbClr val="1E78B7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Implementación de Trello/Miro para seguimiento eficaz del progreso del proyecto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6610146"/>
              <a:ext cx="9182100" cy="4144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12344A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Tareas organizadas en columnas: To Do, In Progress, Done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12344A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Uso de Trello para la gestión visual del flujo de trabajo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12344A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Actualizaciones diarias para mantener la visibilidad del equipo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12344A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Facilita la colaboración y el ajuste en tiempo real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9175044" cy="3116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b="true" sz="8000">
                  <a:solidFill>
                    <a:srgbClr val="12344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Scrumboard Visual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3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8617" y="317161"/>
            <a:ext cx="5282908" cy="5943271"/>
            <a:chOff x="0" y="0"/>
            <a:chExt cx="1457995" cy="1640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7995" cy="1640244"/>
            </a:xfrm>
            <a:custGeom>
              <a:avLst/>
              <a:gdLst/>
              <a:ahLst/>
              <a:cxnLst/>
              <a:rect r="r" b="b" t="t" l="l"/>
              <a:pathLst>
                <a:path h="1640244" w="1457995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2"/>
              <a:stretch>
                <a:fillRect l="0" t="-309" r="0" b="-30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021207" y="4160225"/>
            <a:ext cx="5125088" cy="5882801"/>
          </a:xfrm>
          <a:custGeom>
            <a:avLst/>
            <a:gdLst/>
            <a:ahLst/>
            <a:cxnLst/>
            <a:rect r="r" b="b" t="t" l="l"/>
            <a:pathLst>
              <a:path h="5882801" w="5125088">
                <a:moveTo>
                  <a:pt x="0" y="0"/>
                </a:moveTo>
                <a:lnTo>
                  <a:pt x="5125088" y="0"/>
                </a:lnTo>
                <a:lnTo>
                  <a:pt x="5125088" y="5882801"/>
                </a:lnTo>
                <a:lnTo>
                  <a:pt x="0" y="5882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72042" y="666750"/>
            <a:ext cx="6886575" cy="6789697"/>
            <a:chOff x="0" y="0"/>
            <a:chExt cx="9182100" cy="905292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543300"/>
              <a:ext cx="9167398" cy="13080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b="true" sz="3000">
                  <a:solidFill>
                    <a:srgbClr val="E6F0F3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Monitoreo del progreso ideal versus real durante el sprint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949790"/>
              <a:ext cx="9182100" cy="3103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Visualiza el avance del equipo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Compara la proyección con el rendimiento actual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Facilita la identificación de problemas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Promueve la adaptación del enfoque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Mejora la planificación futura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175044" cy="3116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b="true" sz="8000">
                  <a:solidFill>
                    <a:srgbClr val="E6F0F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Gráfico Burndown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78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5143" y="799798"/>
            <a:ext cx="10472857" cy="7410293"/>
            <a:chOff x="0" y="0"/>
            <a:chExt cx="2318133" cy="1640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8133" cy="1640244"/>
            </a:xfrm>
            <a:custGeom>
              <a:avLst/>
              <a:gdLst/>
              <a:ahLst/>
              <a:cxnLst/>
              <a:rect r="r" b="b" t="t" l="l"/>
              <a:pathLst>
                <a:path h="1640244" w="2318133">
                  <a:moveTo>
                    <a:pt x="0" y="0"/>
                  </a:moveTo>
                  <a:lnTo>
                    <a:pt x="2318133" y="0"/>
                  </a:lnTo>
                  <a:lnTo>
                    <a:pt x="2318133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2"/>
              <a:stretch>
                <a:fillRect l="-3164" t="0" r="-316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3023" y="666750"/>
            <a:ext cx="6895593" cy="7545724"/>
            <a:chOff x="0" y="0"/>
            <a:chExt cx="9194125" cy="1006096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361480"/>
              <a:ext cx="9179403" cy="19708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5"/>
                </a:lnSpc>
              </a:pPr>
              <a:r>
                <a:rPr lang="en-US" b="true" sz="3003">
                  <a:solidFill>
                    <a:srgbClr val="E6F0F3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Análisis de la mejora continua mediante el enfoque Start, Stop, Continue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432317"/>
              <a:ext cx="9194125" cy="3628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839" indent="-259419" lvl="1">
                <a:lnSpc>
                  <a:spcPts val="3124"/>
                </a:lnSpc>
                <a:buFont typeface="Arial"/>
                <a:buChar char="•"/>
              </a:pPr>
              <a:r>
                <a:rPr lang="en-US" b="true" sz="2403" strike="noStrike" u="none">
                  <a:solidFill>
                    <a:srgbClr val="E6F0F3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Comenzar</a:t>
              </a:r>
              <a:r>
                <a:rPr lang="en-US" sz="2403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a implementar feedback más frecuentes </a:t>
              </a:r>
            </a:p>
            <a:p>
              <a:pPr algn="l" marL="518839" indent="-259419" lvl="1">
                <a:lnSpc>
                  <a:spcPts val="3124"/>
                </a:lnSpc>
                <a:buFont typeface="Arial"/>
                <a:buChar char="•"/>
              </a:pPr>
              <a:r>
                <a:rPr lang="en-US" sz="2403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Mejoras en nuestro código y tecnologias utilizadas </a:t>
              </a:r>
            </a:p>
            <a:p>
              <a:pPr algn="l" marL="518839" indent="-259419" lvl="1">
                <a:lnSpc>
                  <a:spcPts val="3124"/>
                </a:lnSpc>
                <a:buFont typeface="Arial"/>
                <a:buChar char="•"/>
              </a:pPr>
              <a:r>
                <a:rPr lang="en-US" sz="2403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Pasamos de Base de datos sql y Django a &gt;&gt; Vercel y firestore</a:t>
              </a:r>
            </a:p>
            <a:p>
              <a:pPr algn="l">
                <a:lnSpc>
                  <a:spcPts val="3124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9187060" cy="292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260"/>
                </a:lnSpc>
              </a:pPr>
              <a:r>
                <a:rPr lang="en-US" b="true" sz="7509">
                  <a:solidFill>
                    <a:srgbClr val="E6F0F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RetrospectivaY </a:t>
              </a:r>
              <a:r>
                <a:rPr lang="en-US" b="true" sz="7509">
                  <a:solidFill>
                    <a:srgbClr val="E6F0F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Cambios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457995" cy="1640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7995" cy="1640244"/>
            </a:xfrm>
            <a:custGeom>
              <a:avLst/>
              <a:gdLst/>
              <a:ahLst/>
              <a:cxnLst/>
              <a:rect r="r" b="b" t="t" l="l"/>
              <a:pathLst>
                <a:path h="1640244" w="1457995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2"/>
              <a:stretch>
                <a:fillRect l="0" t="-219" r="0" b="-21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050944" y="7689711"/>
            <a:ext cx="6343352" cy="2362898"/>
          </a:xfrm>
          <a:custGeom>
            <a:avLst/>
            <a:gdLst/>
            <a:ahLst/>
            <a:cxnLst/>
            <a:rect r="r" b="b" t="t" l="l"/>
            <a:pathLst>
              <a:path h="2362898" w="6343352">
                <a:moveTo>
                  <a:pt x="0" y="0"/>
                </a:moveTo>
                <a:lnTo>
                  <a:pt x="6343352" y="0"/>
                </a:lnTo>
                <a:lnTo>
                  <a:pt x="6343352" y="2362899"/>
                </a:lnTo>
                <a:lnTo>
                  <a:pt x="0" y="2362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29240" y="301233"/>
            <a:ext cx="6986760" cy="2611302"/>
          </a:xfrm>
          <a:custGeom>
            <a:avLst/>
            <a:gdLst/>
            <a:ahLst/>
            <a:cxnLst/>
            <a:rect r="r" b="b" t="t" l="l"/>
            <a:pathLst>
              <a:path h="2611302" w="6986760">
                <a:moveTo>
                  <a:pt x="0" y="0"/>
                </a:moveTo>
                <a:lnTo>
                  <a:pt x="6986760" y="0"/>
                </a:lnTo>
                <a:lnTo>
                  <a:pt x="6986760" y="2611302"/>
                </a:lnTo>
                <a:lnTo>
                  <a:pt x="0" y="2611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72042" y="666750"/>
            <a:ext cx="6886575" cy="7284964"/>
            <a:chOff x="0" y="0"/>
            <a:chExt cx="9182100" cy="971328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3543300"/>
              <a:ext cx="9167398" cy="1968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b="true" sz="3000">
                  <a:solidFill>
                    <a:srgbClr val="1E78B7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La importancia de Git en la colaboración y gestión del proyecto eficaz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610146"/>
              <a:ext cx="9182100" cy="3103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12344A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Uso de control de versiones para </a:t>
              </a:r>
              <a:r>
                <a:rPr lang="en-US" b="true" sz="2400" strike="noStrike" u="none">
                  <a:solidFill>
                    <a:srgbClr val="12344A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colaboración equitativa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12344A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Participación activa de todos los miembros del equipo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12344A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Roles distribuidos según las </a:t>
              </a:r>
              <a:r>
                <a:rPr lang="en-US" b="true" sz="2400" strike="noStrike" u="none">
                  <a:solidFill>
                    <a:srgbClr val="12344A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habilidades y fortalezas</a:t>
              </a:r>
              <a:r>
                <a:rPr lang="en-US" sz="2400" strike="noStrike" u="none">
                  <a:solidFill>
                    <a:srgbClr val="12344A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individuales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9525"/>
              <a:ext cx="9175044" cy="3116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b="true" sz="8000">
                  <a:solidFill>
                    <a:srgbClr val="12344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Control de Versiones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78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74180" y="96527"/>
            <a:ext cx="9144000" cy="10287000"/>
            <a:chOff x="0" y="0"/>
            <a:chExt cx="1457995" cy="1640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7995" cy="1640244"/>
            </a:xfrm>
            <a:custGeom>
              <a:avLst/>
              <a:gdLst/>
              <a:ahLst/>
              <a:cxnLst/>
              <a:rect r="r" b="b" t="t" l="l"/>
              <a:pathLst>
                <a:path h="1640244" w="1457995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72042" y="666750"/>
            <a:ext cx="6886575" cy="6179043"/>
            <a:chOff x="0" y="0"/>
            <a:chExt cx="9182100" cy="823872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951308"/>
              <a:ext cx="9167398" cy="647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b="true" sz="3000">
                  <a:solidFill>
                    <a:srgbClr val="E6F0F3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Enfoque en el desarrollo dinámico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697442"/>
              <a:ext cx="9182100" cy="1541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1683" indent="-255842" lvl="1">
                <a:lnSpc>
                  <a:spcPts val="3081"/>
                </a:lnSpc>
                <a:buFont typeface="Arial"/>
                <a:buChar char="•"/>
              </a:pPr>
              <a:r>
                <a:rPr lang="en-US" sz="2370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Fire base como base de datos</a:t>
              </a:r>
            </a:p>
            <a:p>
              <a:pPr algn="l" marL="511683" indent="-255842" lvl="1">
                <a:lnSpc>
                  <a:spcPts val="3081"/>
                </a:lnSpc>
                <a:buFont typeface="Arial"/>
                <a:buChar char="•"/>
              </a:pPr>
              <a:r>
                <a:rPr lang="en-US" sz="237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Codigo construido en Node </a:t>
              </a:r>
            </a:p>
            <a:p>
              <a:pPr algn="l" marL="511683" indent="-255842" lvl="1">
                <a:lnSpc>
                  <a:spcPts val="3081"/>
                </a:lnSpc>
                <a:buFont typeface="Arial"/>
                <a:buChar char="•"/>
              </a:pPr>
              <a:r>
                <a:rPr lang="en-US" sz="237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Despliegue en Vercel + Repositorio en Github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9175044" cy="4515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690"/>
                </a:lnSpc>
              </a:pPr>
              <a:r>
                <a:rPr lang="en-US" b="true" sz="7900">
                  <a:solidFill>
                    <a:srgbClr val="E6F0F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Flujo de nuestra pagina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08949" y="0"/>
            <a:ext cx="10479051" cy="10287000"/>
            <a:chOff x="0" y="0"/>
            <a:chExt cx="1703654" cy="16724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3654" cy="1672430"/>
            </a:xfrm>
            <a:custGeom>
              <a:avLst/>
              <a:gdLst/>
              <a:ahLst/>
              <a:cxnLst/>
              <a:rect r="r" b="b" t="t" l="l"/>
              <a:pathLst>
                <a:path h="1672430" w="1703654">
                  <a:moveTo>
                    <a:pt x="0" y="0"/>
                  </a:moveTo>
                  <a:lnTo>
                    <a:pt x="1703654" y="0"/>
                  </a:lnTo>
                  <a:lnTo>
                    <a:pt x="1703654" y="1672430"/>
                  </a:lnTo>
                  <a:lnTo>
                    <a:pt x="0" y="1672430"/>
                  </a:lnTo>
                  <a:close/>
                </a:path>
              </a:pathLst>
            </a:custGeom>
            <a:blipFill>
              <a:blip r:embed="rId2"/>
              <a:stretch>
                <a:fillRect l="-2521" t="0" r="-2521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3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457995" cy="1640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7995" cy="1640244"/>
            </a:xfrm>
            <a:custGeom>
              <a:avLst/>
              <a:gdLst/>
              <a:ahLst/>
              <a:cxnLst/>
              <a:rect r="r" b="b" t="t" l="l"/>
              <a:pathLst>
                <a:path h="1640244" w="1457995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2"/>
              <a:stretch>
                <a:fillRect l="0" t="-219" r="0" b="-21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2042" y="666750"/>
            <a:ext cx="7952343" cy="6190114"/>
            <a:chOff x="0" y="0"/>
            <a:chExt cx="10603124" cy="825348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493422"/>
              <a:ext cx="10586147" cy="628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5"/>
                </a:lnSpc>
              </a:pPr>
              <a:r>
                <a:rPr lang="en-US" b="true" sz="2950">
                  <a:solidFill>
                    <a:srgbClr val="E6F0F3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Importancia de este proyecto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201426"/>
              <a:ext cx="10603124" cy="3052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09578" indent="-254789" lvl="1">
                <a:lnSpc>
                  <a:spcPts val="3068"/>
                </a:lnSpc>
                <a:buFont typeface="Arial"/>
                <a:buChar char="•"/>
              </a:pPr>
              <a:r>
                <a:rPr lang="en-US" sz="236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Implementación de tecnologías que se utilizan en el mundo laboral</a:t>
              </a:r>
            </a:p>
            <a:p>
              <a:pPr algn="l" marL="509578" indent="-254789" lvl="1">
                <a:lnSpc>
                  <a:spcPts val="3068"/>
                </a:lnSpc>
                <a:buFont typeface="Arial"/>
                <a:buChar char="•"/>
              </a:pPr>
              <a:r>
                <a:rPr lang="en-US" sz="236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Competencias acordes a nuestra carrera</a:t>
              </a:r>
            </a:p>
            <a:p>
              <a:pPr algn="l" marL="509578" indent="-254789" lvl="1">
                <a:lnSpc>
                  <a:spcPts val="3068"/>
                </a:lnSpc>
                <a:buFont typeface="Arial"/>
                <a:buChar char="•"/>
              </a:pPr>
              <a:r>
                <a:rPr lang="en-US" b="true" sz="2360" strike="noStrike" u="none">
                  <a:solidFill>
                    <a:srgbClr val="E6F0F3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Lenguaje técnico</a:t>
              </a:r>
              <a:r>
                <a:rPr lang="en-US" sz="236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preciso y profesional en el equipo</a:t>
              </a:r>
            </a:p>
            <a:p>
              <a:pPr algn="l" marL="509578" indent="-254789" lvl="1">
                <a:lnSpc>
                  <a:spcPts val="3068"/>
                </a:lnSpc>
                <a:buFont typeface="Arial"/>
                <a:buChar char="•"/>
              </a:pPr>
              <a:r>
                <a:rPr lang="en-US" sz="2360" strike="noStrike" u="none">
                  <a:solidFill>
                    <a:srgbClr val="E6F0F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Aprendizaje para futuro proyectos informaticos, REST, AUTOMATIZACION, TESTING...etc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0594977" cy="3055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654"/>
                </a:lnSpc>
              </a:pPr>
              <a:r>
                <a:rPr lang="en-US" b="true" sz="7867">
                  <a:solidFill>
                    <a:srgbClr val="E6F0F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Intereses/Perfil Egreso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9144000" cy="10299700"/>
            <a:chOff x="0" y="0"/>
            <a:chExt cx="786406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6406" cy="885799"/>
            </a:xfrm>
            <a:custGeom>
              <a:avLst/>
              <a:gdLst/>
              <a:ahLst/>
              <a:cxnLst/>
              <a:rect r="r" b="b" t="t" l="l"/>
              <a:pathLst>
                <a:path h="885799" w="786406">
                  <a:moveTo>
                    <a:pt x="0" y="0"/>
                  </a:moveTo>
                  <a:lnTo>
                    <a:pt x="786406" y="0"/>
                  </a:lnTo>
                  <a:lnTo>
                    <a:pt x="786406" y="885799"/>
                  </a:lnTo>
                  <a:lnTo>
                    <a:pt x="0" y="885799"/>
                  </a:lnTo>
                  <a:close/>
                </a:path>
              </a:pathLst>
            </a:custGeom>
            <a:blipFill>
              <a:blip r:embed="rId2"/>
              <a:stretch>
                <a:fillRect l="0" t="-157" r="0" b="-15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487044" y="5137150"/>
            <a:ext cx="1166298" cy="1179568"/>
          </a:xfrm>
          <a:custGeom>
            <a:avLst/>
            <a:gdLst/>
            <a:ahLst/>
            <a:cxnLst/>
            <a:rect r="r" b="b" t="t" l="l"/>
            <a:pathLst>
              <a:path h="1179568" w="1166298">
                <a:moveTo>
                  <a:pt x="0" y="0"/>
                </a:moveTo>
                <a:lnTo>
                  <a:pt x="1166298" y="0"/>
                </a:lnTo>
                <a:lnTo>
                  <a:pt x="1166298" y="1179568"/>
                </a:lnTo>
                <a:lnTo>
                  <a:pt x="0" y="1179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3273506" cy="1053157"/>
          </a:xfrm>
          <a:custGeom>
            <a:avLst/>
            <a:gdLst/>
            <a:ahLst/>
            <a:cxnLst/>
            <a:rect r="r" b="b" t="t" l="l"/>
            <a:pathLst>
              <a:path h="1053157" w="3273506">
                <a:moveTo>
                  <a:pt x="0" y="0"/>
                </a:moveTo>
                <a:lnTo>
                  <a:pt x="3273506" y="0"/>
                </a:lnTo>
                <a:lnTo>
                  <a:pt x="3273506" y="1053157"/>
                </a:lnTo>
                <a:lnTo>
                  <a:pt x="0" y="10531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753244" y="8725508"/>
            <a:ext cx="5429731" cy="829283"/>
            <a:chOff x="0" y="0"/>
            <a:chExt cx="7239641" cy="110571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06601"/>
              <a:ext cx="7239641" cy="499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12344A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poner pagina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9050"/>
              <a:ext cx="7239641" cy="499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12344A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Página web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372725" y="3430217"/>
            <a:ext cx="6886575" cy="1901469"/>
            <a:chOff x="0" y="0"/>
            <a:chExt cx="9182100" cy="253529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9182100" cy="1630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b="true" sz="8000">
                  <a:solidFill>
                    <a:srgbClr val="12344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Gracias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887636"/>
              <a:ext cx="9182100" cy="647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12344A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Por su atención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Proyecto CAPSTONE: Sistema de Gestión</dc:description>
  <dc:identifier>DAG5AvWUOfM</dc:identifier>
  <dcterms:modified xsi:type="dcterms:W3CDTF">2011-08-01T06:04:30Z</dcterms:modified>
  <cp:revision>1</cp:revision>
  <dc:title>Presentación - Proyecto CAPSTONE: Sistema de Gestión</dc:title>
</cp:coreProperties>
</file>